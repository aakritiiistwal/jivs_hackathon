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handoutMasterIdLst>
    <p:handoutMasterId r:id="rId16"/>
  </p:handoutMasterIdLst>
  <p:sldIdLst>
    <p:sldId id="281" r:id="rId5"/>
    <p:sldId id="273" r:id="rId6"/>
    <p:sldId id="284" r:id="rId7"/>
    <p:sldId id="280" r:id="rId8"/>
    <p:sldId id="278" r:id="rId9"/>
    <p:sldId id="279" r:id="rId10"/>
    <p:sldId id="285" r:id="rId11"/>
    <p:sldId id="286" r:id="rId12"/>
    <p:sldId id="266" r:id="rId13"/>
    <p:sldId id="28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79" autoAdjust="0"/>
  </p:normalViewPr>
  <p:slideViewPr>
    <p:cSldViewPr snapToGrid="0">
      <p:cViewPr varScale="1">
        <p:scale>
          <a:sx n="59" d="100"/>
          <a:sy n="59" d="100"/>
        </p:scale>
        <p:origin x="964" y="52"/>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16E204-8C4A-4275-A40B-21908D1B8275}" type="doc">
      <dgm:prSet loTypeId="urn:microsoft.com/office/officeart/2005/8/layout/vList2" loCatId="list" qsTypeId="urn:microsoft.com/office/officeart/2005/8/quickstyle/simple5" qsCatId="simple" csTypeId="urn:microsoft.com/office/officeart/2005/8/colors/accent1_2" csCatId="accent1" phldr="1"/>
      <dgm:spPr/>
      <dgm:t>
        <a:bodyPr/>
        <a:lstStyle/>
        <a:p>
          <a:endParaRPr lang="en-US"/>
        </a:p>
      </dgm:t>
    </dgm:pt>
    <dgm:pt modelId="{6D01B2E3-9C9C-4935-AFE0-874BE40500E7}">
      <dgm:prSet/>
      <dgm:spPr/>
      <dgm:t>
        <a:bodyPr/>
        <a:lstStyle/>
        <a:p>
          <a:pPr>
            <a:lnSpc>
              <a:spcPct val="100000"/>
            </a:lnSpc>
          </a:pPr>
          <a:r>
            <a:rPr lang="en-US"/>
            <a:t>DATABASES</a:t>
          </a:r>
          <a:endParaRPr lang="en-US" dirty="0"/>
        </a:p>
      </dgm:t>
    </dgm:pt>
    <dgm:pt modelId="{65308D4B-41E4-48A8-B0C9-0FFD75F0B059}" type="parTrans" cxnId="{29B521A8-770D-448A-B9A4-0892314B870F}">
      <dgm:prSet/>
      <dgm:spPr/>
      <dgm:t>
        <a:bodyPr/>
        <a:lstStyle/>
        <a:p>
          <a:endParaRPr lang="en-US"/>
        </a:p>
      </dgm:t>
    </dgm:pt>
    <dgm:pt modelId="{32F5E3E1-2607-4D75-98F4-0AB41B597CBC}" type="sibTrans" cxnId="{29B521A8-770D-448A-B9A4-0892314B870F}">
      <dgm:prSet/>
      <dgm:spPr/>
      <dgm:t>
        <a:bodyPr/>
        <a:lstStyle/>
        <a:p>
          <a:pPr>
            <a:lnSpc>
              <a:spcPct val="100000"/>
            </a:lnSpc>
          </a:pPr>
          <a:endParaRPr lang="en-US"/>
        </a:p>
      </dgm:t>
    </dgm:pt>
    <dgm:pt modelId="{45525591-6EBC-4E08-B304-42CAD390CF8C}">
      <dgm:prSet/>
      <dgm:spPr/>
      <dgm:t>
        <a:bodyPr/>
        <a:lstStyle/>
        <a:p>
          <a:pPr>
            <a:lnSpc>
              <a:spcPct val="100000"/>
            </a:lnSpc>
          </a:pPr>
          <a:r>
            <a:rPr lang="en-US"/>
            <a:t>SCHEMA MAPPING I</a:t>
          </a:r>
          <a:endParaRPr lang="en-US" dirty="0"/>
        </a:p>
      </dgm:t>
    </dgm:pt>
    <dgm:pt modelId="{58F12BB2-96B4-4FDD-BB41-8497D6001A22}" type="parTrans" cxnId="{42CBAE18-11B0-4DAD-8AA0-D32CEBC4AB57}">
      <dgm:prSet/>
      <dgm:spPr/>
      <dgm:t>
        <a:bodyPr/>
        <a:lstStyle/>
        <a:p>
          <a:endParaRPr lang="en-US"/>
        </a:p>
      </dgm:t>
    </dgm:pt>
    <dgm:pt modelId="{3930CBEF-0A3F-4D55-B1B2-AA8F42E3FB3F}" type="sibTrans" cxnId="{42CBAE18-11B0-4DAD-8AA0-D32CEBC4AB57}">
      <dgm:prSet/>
      <dgm:spPr/>
      <dgm:t>
        <a:bodyPr/>
        <a:lstStyle/>
        <a:p>
          <a:pPr>
            <a:lnSpc>
              <a:spcPct val="100000"/>
            </a:lnSpc>
          </a:pPr>
          <a:endParaRPr lang="en-US"/>
        </a:p>
      </dgm:t>
    </dgm:pt>
    <dgm:pt modelId="{41F94BBA-065C-4B97-B308-522B1A892ECF}">
      <dgm:prSet/>
      <dgm:spPr/>
      <dgm:t>
        <a:bodyPr/>
        <a:lstStyle/>
        <a:p>
          <a:pPr>
            <a:lnSpc>
              <a:spcPct val="100000"/>
            </a:lnSpc>
          </a:pPr>
          <a:r>
            <a:rPr lang="en-US" dirty="0"/>
            <a:t>SCHEMA MAPPING II</a:t>
          </a:r>
        </a:p>
      </dgm:t>
    </dgm:pt>
    <dgm:pt modelId="{18502295-7479-4A32-8BD3-8D1EB3900D85}" type="parTrans" cxnId="{FD1BF0AA-81EB-4D01-B430-26BF4A8E27DA}">
      <dgm:prSet/>
      <dgm:spPr/>
      <dgm:t>
        <a:bodyPr/>
        <a:lstStyle/>
        <a:p>
          <a:endParaRPr lang="en-US"/>
        </a:p>
      </dgm:t>
    </dgm:pt>
    <dgm:pt modelId="{54932965-1FDA-4B25-93B0-497C6AA033FC}" type="sibTrans" cxnId="{FD1BF0AA-81EB-4D01-B430-26BF4A8E27DA}">
      <dgm:prSet/>
      <dgm:spPr/>
      <dgm:t>
        <a:bodyPr/>
        <a:lstStyle/>
        <a:p>
          <a:pPr>
            <a:lnSpc>
              <a:spcPct val="100000"/>
            </a:lnSpc>
          </a:pPr>
          <a:endParaRPr lang="en-US"/>
        </a:p>
      </dgm:t>
    </dgm:pt>
    <dgm:pt modelId="{954AA17D-F08C-473D-A193-4CDBEE1C81CA}">
      <dgm:prSet/>
      <dgm:spPr/>
      <dgm:t>
        <a:bodyPr/>
        <a:lstStyle/>
        <a:p>
          <a:pPr>
            <a:lnSpc>
              <a:spcPct val="100000"/>
            </a:lnSpc>
          </a:pPr>
          <a:r>
            <a:rPr lang="en-US"/>
            <a:t>LIMITATIONS &amp; FUTURE PROSPECTS</a:t>
          </a:r>
          <a:endParaRPr lang="en-US" dirty="0"/>
        </a:p>
      </dgm:t>
    </dgm:pt>
    <dgm:pt modelId="{D2E43A8D-52DD-48A4-82CF-8FC5EA1F5D2F}" type="parTrans" cxnId="{15B8D66D-AA04-4266-9B07-BB19A224B499}">
      <dgm:prSet/>
      <dgm:spPr/>
      <dgm:t>
        <a:bodyPr/>
        <a:lstStyle/>
        <a:p>
          <a:endParaRPr lang="en-US"/>
        </a:p>
      </dgm:t>
    </dgm:pt>
    <dgm:pt modelId="{85446DB0-D02C-4CB5-A07A-14953FF54566}" type="sibTrans" cxnId="{15B8D66D-AA04-4266-9B07-BB19A224B499}">
      <dgm:prSet/>
      <dgm:spPr/>
      <dgm:t>
        <a:bodyPr/>
        <a:lstStyle/>
        <a:p>
          <a:endParaRPr lang="en-US"/>
        </a:p>
      </dgm:t>
    </dgm:pt>
    <dgm:pt modelId="{A6111B4C-68AB-4D47-9A9F-59C8F67BF2E7}" type="pres">
      <dgm:prSet presAssocID="{7016E204-8C4A-4275-A40B-21908D1B8275}" presName="linear" presStyleCnt="0">
        <dgm:presLayoutVars>
          <dgm:animLvl val="lvl"/>
          <dgm:resizeHandles val="exact"/>
        </dgm:presLayoutVars>
      </dgm:prSet>
      <dgm:spPr/>
    </dgm:pt>
    <dgm:pt modelId="{2CC53360-F96A-4D2D-BBF7-B10965FCDB82}" type="pres">
      <dgm:prSet presAssocID="{6D01B2E3-9C9C-4935-AFE0-874BE40500E7}" presName="parentText" presStyleLbl="node1" presStyleIdx="0" presStyleCnt="4">
        <dgm:presLayoutVars>
          <dgm:chMax val="0"/>
          <dgm:bulletEnabled val="1"/>
        </dgm:presLayoutVars>
      </dgm:prSet>
      <dgm:spPr/>
    </dgm:pt>
    <dgm:pt modelId="{401832AC-4701-46E3-9C57-5F2C8D0DEAAF}" type="pres">
      <dgm:prSet presAssocID="{32F5E3E1-2607-4D75-98F4-0AB41B597CBC}" presName="spacer" presStyleCnt="0"/>
      <dgm:spPr/>
    </dgm:pt>
    <dgm:pt modelId="{FAB266AE-4973-4F15-962C-06D343F3F3CF}" type="pres">
      <dgm:prSet presAssocID="{45525591-6EBC-4E08-B304-42CAD390CF8C}" presName="parentText" presStyleLbl="node1" presStyleIdx="1" presStyleCnt="4">
        <dgm:presLayoutVars>
          <dgm:chMax val="0"/>
          <dgm:bulletEnabled val="1"/>
        </dgm:presLayoutVars>
      </dgm:prSet>
      <dgm:spPr/>
    </dgm:pt>
    <dgm:pt modelId="{CA529C2C-6845-4E4C-B40A-C5FF7F7C7FD8}" type="pres">
      <dgm:prSet presAssocID="{3930CBEF-0A3F-4D55-B1B2-AA8F42E3FB3F}" presName="spacer" presStyleCnt="0"/>
      <dgm:spPr/>
    </dgm:pt>
    <dgm:pt modelId="{C4B15050-C239-4854-8B2F-7178013C64B6}" type="pres">
      <dgm:prSet presAssocID="{41F94BBA-065C-4B97-B308-522B1A892ECF}" presName="parentText" presStyleLbl="node1" presStyleIdx="2" presStyleCnt="4">
        <dgm:presLayoutVars>
          <dgm:chMax val="0"/>
          <dgm:bulletEnabled val="1"/>
        </dgm:presLayoutVars>
      </dgm:prSet>
      <dgm:spPr/>
    </dgm:pt>
    <dgm:pt modelId="{657F0B45-AADD-40CB-AF7E-6444025C81B7}" type="pres">
      <dgm:prSet presAssocID="{54932965-1FDA-4B25-93B0-497C6AA033FC}" presName="spacer" presStyleCnt="0"/>
      <dgm:spPr/>
    </dgm:pt>
    <dgm:pt modelId="{9B83037B-C6C6-4CFC-9C80-F35AF39585C2}" type="pres">
      <dgm:prSet presAssocID="{954AA17D-F08C-473D-A193-4CDBEE1C81CA}" presName="parentText" presStyleLbl="node1" presStyleIdx="3" presStyleCnt="4">
        <dgm:presLayoutVars>
          <dgm:chMax val="0"/>
          <dgm:bulletEnabled val="1"/>
        </dgm:presLayoutVars>
      </dgm:prSet>
      <dgm:spPr/>
    </dgm:pt>
  </dgm:ptLst>
  <dgm:cxnLst>
    <dgm:cxn modelId="{6F62E110-11D5-44B8-8212-2845182CFA6E}" type="presOf" srcId="{41F94BBA-065C-4B97-B308-522B1A892ECF}" destId="{C4B15050-C239-4854-8B2F-7178013C64B6}" srcOrd="0" destOrd="0" presId="urn:microsoft.com/office/officeart/2005/8/layout/vList2"/>
    <dgm:cxn modelId="{42CBAE18-11B0-4DAD-8AA0-D32CEBC4AB57}" srcId="{7016E204-8C4A-4275-A40B-21908D1B8275}" destId="{45525591-6EBC-4E08-B304-42CAD390CF8C}" srcOrd="1" destOrd="0" parTransId="{58F12BB2-96B4-4FDD-BB41-8497D6001A22}" sibTransId="{3930CBEF-0A3F-4D55-B1B2-AA8F42E3FB3F}"/>
    <dgm:cxn modelId="{2231582B-F324-4975-AC5E-FF620700BA91}" type="presOf" srcId="{954AA17D-F08C-473D-A193-4CDBEE1C81CA}" destId="{9B83037B-C6C6-4CFC-9C80-F35AF39585C2}" srcOrd="0" destOrd="0" presId="urn:microsoft.com/office/officeart/2005/8/layout/vList2"/>
    <dgm:cxn modelId="{15B8D66D-AA04-4266-9B07-BB19A224B499}" srcId="{7016E204-8C4A-4275-A40B-21908D1B8275}" destId="{954AA17D-F08C-473D-A193-4CDBEE1C81CA}" srcOrd="3" destOrd="0" parTransId="{D2E43A8D-52DD-48A4-82CF-8FC5EA1F5D2F}" sibTransId="{85446DB0-D02C-4CB5-A07A-14953FF54566}"/>
    <dgm:cxn modelId="{D1C71487-1A64-49A4-8976-884B02C7823E}" type="presOf" srcId="{7016E204-8C4A-4275-A40B-21908D1B8275}" destId="{A6111B4C-68AB-4D47-9A9F-59C8F67BF2E7}" srcOrd="0" destOrd="0" presId="urn:microsoft.com/office/officeart/2005/8/layout/vList2"/>
    <dgm:cxn modelId="{29B521A8-770D-448A-B9A4-0892314B870F}" srcId="{7016E204-8C4A-4275-A40B-21908D1B8275}" destId="{6D01B2E3-9C9C-4935-AFE0-874BE40500E7}" srcOrd="0" destOrd="0" parTransId="{65308D4B-41E4-48A8-B0C9-0FFD75F0B059}" sibTransId="{32F5E3E1-2607-4D75-98F4-0AB41B597CBC}"/>
    <dgm:cxn modelId="{FD1BF0AA-81EB-4D01-B430-26BF4A8E27DA}" srcId="{7016E204-8C4A-4275-A40B-21908D1B8275}" destId="{41F94BBA-065C-4B97-B308-522B1A892ECF}" srcOrd="2" destOrd="0" parTransId="{18502295-7479-4A32-8BD3-8D1EB3900D85}" sibTransId="{54932965-1FDA-4B25-93B0-497C6AA033FC}"/>
    <dgm:cxn modelId="{DC242FBE-E47A-4DAE-8BDA-4BD54B5B861E}" type="presOf" srcId="{6D01B2E3-9C9C-4935-AFE0-874BE40500E7}" destId="{2CC53360-F96A-4D2D-BBF7-B10965FCDB82}" srcOrd="0" destOrd="0" presId="urn:microsoft.com/office/officeart/2005/8/layout/vList2"/>
    <dgm:cxn modelId="{792928EE-0D9C-4F9F-87BD-F90C50AF100D}" type="presOf" srcId="{45525591-6EBC-4E08-B304-42CAD390CF8C}" destId="{FAB266AE-4973-4F15-962C-06D343F3F3CF}" srcOrd="0" destOrd="0" presId="urn:microsoft.com/office/officeart/2005/8/layout/vList2"/>
    <dgm:cxn modelId="{DDF423AC-6E5F-41C6-98C8-B507A98DFB9D}" type="presParOf" srcId="{A6111B4C-68AB-4D47-9A9F-59C8F67BF2E7}" destId="{2CC53360-F96A-4D2D-BBF7-B10965FCDB82}" srcOrd="0" destOrd="0" presId="urn:microsoft.com/office/officeart/2005/8/layout/vList2"/>
    <dgm:cxn modelId="{845729A1-9DA7-4080-830D-56AB3B27B6EA}" type="presParOf" srcId="{A6111B4C-68AB-4D47-9A9F-59C8F67BF2E7}" destId="{401832AC-4701-46E3-9C57-5F2C8D0DEAAF}" srcOrd="1" destOrd="0" presId="urn:microsoft.com/office/officeart/2005/8/layout/vList2"/>
    <dgm:cxn modelId="{96B66B72-5FDB-42FC-BEE1-249D581CA7F6}" type="presParOf" srcId="{A6111B4C-68AB-4D47-9A9F-59C8F67BF2E7}" destId="{FAB266AE-4973-4F15-962C-06D343F3F3CF}" srcOrd="2" destOrd="0" presId="urn:microsoft.com/office/officeart/2005/8/layout/vList2"/>
    <dgm:cxn modelId="{846074A7-6294-4746-9342-EBCFF97BDF86}" type="presParOf" srcId="{A6111B4C-68AB-4D47-9A9F-59C8F67BF2E7}" destId="{CA529C2C-6845-4E4C-B40A-C5FF7F7C7FD8}" srcOrd="3" destOrd="0" presId="urn:microsoft.com/office/officeart/2005/8/layout/vList2"/>
    <dgm:cxn modelId="{277329EC-69CD-4A23-A848-B58224C241AE}" type="presParOf" srcId="{A6111B4C-68AB-4D47-9A9F-59C8F67BF2E7}" destId="{C4B15050-C239-4854-8B2F-7178013C64B6}" srcOrd="4" destOrd="0" presId="urn:microsoft.com/office/officeart/2005/8/layout/vList2"/>
    <dgm:cxn modelId="{B246F79F-6003-4547-A3B5-A388E2F1128F}" type="presParOf" srcId="{A6111B4C-68AB-4D47-9A9F-59C8F67BF2E7}" destId="{657F0B45-AADD-40CB-AF7E-6444025C81B7}" srcOrd="5" destOrd="0" presId="urn:microsoft.com/office/officeart/2005/8/layout/vList2"/>
    <dgm:cxn modelId="{2967781E-E8A1-433F-8CCF-B425041BD96B}" type="presParOf" srcId="{A6111B4C-68AB-4D47-9A9F-59C8F67BF2E7}" destId="{9B83037B-C6C6-4CFC-9C80-F35AF39585C2}"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53360-F96A-4D2D-BBF7-B10965FCDB82}">
      <dsp:nvSpPr>
        <dsp:cNvPr id="0" name=""/>
        <dsp:cNvSpPr/>
      </dsp:nvSpPr>
      <dsp:spPr>
        <a:xfrm>
          <a:off x="0" y="2423"/>
          <a:ext cx="7020734" cy="82368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100000"/>
            </a:lnSpc>
            <a:spcBef>
              <a:spcPct val="0"/>
            </a:spcBef>
            <a:spcAft>
              <a:spcPct val="35000"/>
            </a:spcAft>
            <a:buNone/>
          </a:pPr>
          <a:r>
            <a:rPr lang="en-US" sz="3200" kern="1200"/>
            <a:t>DATABASES</a:t>
          </a:r>
          <a:endParaRPr lang="en-US" sz="3200" kern="1200" dirty="0"/>
        </a:p>
      </dsp:txBody>
      <dsp:txXfrm>
        <a:off x="40209" y="42632"/>
        <a:ext cx="6940316" cy="743262"/>
      </dsp:txXfrm>
    </dsp:sp>
    <dsp:sp modelId="{FAB266AE-4973-4F15-962C-06D343F3F3CF}">
      <dsp:nvSpPr>
        <dsp:cNvPr id="0" name=""/>
        <dsp:cNvSpPr/>
      </dsp:nvSpPr>
      <dsp:spPr>
        <a:xfrm>
          <a:off x="0" y="918263"/>
          <a:ext cx="7020734" cy="82368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100000"/>
            </a:lnSpc>
            <a:spcBef>
              <a:spcPct val="0"/>
            </a:spcBef>
            <a:spcAft>
              <a:spcPct val="35000"/>
            </a:spcAft>
            <a:buNone/>
          </a:pPr>
          <a:r>
            <a:rPr lang="en-US" sz="3200" kern="1200"/>
            <a:t>SCHEMA MAPPING I</a:t>
          </a:r>
          <a:endParaRPr lang="en-US" sz="3200" kern="1200" dirty="0"/>
        </a:p>
      </dsp:txBody>
      <dsp:txXfrm>
        <a:off x="40209" y="958472"/>
        <a:ext cx="6940316" cy="743262"/>
      </dsp:txXfrm>
    </dsp:sp>
    <dsp:sp modelId="{C4B15050-C239-4854-8B2F-7178013C64B6}">
      <dsp:nvSpPr>
        <dsp:cNvPr id="0" name=""/>
        <dsp:cNvSpPr/>
      </dsp:nvSpPr>
      <dsp:spPr>
        <a:xfrm>
          <a:off x="0" y="1834103"/>
          <a:ext cx="7020734" cy="82368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100000"/>
            </a:lnSpc>
            <a:spcBef>
              <a:spcPct val="0"/>
            </a:spcBef>
            <a:spcAft>
              <a:spcPct val="35000"/>
            </a:spcAft>
            <a:buNone/>
          </a:pPr>
          <a:r>
            <a:rPr lang="en-US" sz="3200" kern="1200" dirty="0"/>
            <a:t>SCHEMA MAPPING II</a:t>
          </a:r>
        </a:p>
      </dsp:txBody>
      <dsp:txXfrm>
        <a:off x="40209" y="1874312"/>
        <a:ext cx="6940316" cy="743262"/>
      </dsp:txXfrm>
    </dsp:sp>
    <dsp:sp modelId="{9B83037B-C6C6-4CFC-9C80-F35AF39585C2}">
      <dsp:nvSpPr>
        <dsp:cNvPr id="0" name=""/>
        <dsp:cNvSpPr/>
      </dsp:nvSpPr>
      <dsp:spPr>
        <a:xfrm>
          <a:off x="0" y="2749943"/>
          <a:ext cx="7020734" cy="82368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100000"/>
            </a:lnSpc>
            <a:spcBef>
              <a:spcPct val="0"/>
            </a:spcBef>
            <a:spcAft>
              <a:spcPct val="35000"/>
            </a:spcAft>
            <a:buNone/>
          </a:pPr>
          <a:r>
            <a:rPr lang="en-US" sz="3200" kern="1200"/>
            <a:t>LIMITATIONS &amp; FUTURE PROSPECTS</a:t>
          </a:r>
          <a:endParaRPr lang="en-US" sz="3200" kern="1200" dirty="0"/>
        </a:p>
      </dsp:txBody>
      <dsp:txXfrm>
        <a:off x="40209" y="2790152"/>
        <a:ext cx="6940316" cy="74326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8/9/2024</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8/9/2024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3155431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3</a:t>
            </a:fld>
            <a:endParaRPr lang="en-US"/>
          </a:p>
        </p:txBody>
      </p:sp>
    </p:spTree>
    <p:extLst>
      <p:ext uri="{BB962C8B-B14F-4D97-AF65-F5344CB8AC3E}">
        <p14:creationId xmlns:p14="http://schemas.microsoft.com/office/powerpoint/2010/main" val="22172940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4</a:t>
            </a:fld>
            <a:endParaRPr lang="en-US"/>
          </a:p>
        </p:txBody>
      </p:sp>
    </p:spTree>
    <p:extLst>
      <p:ext uri="{BB962C8B-B14F-4D97-AF65-F5344CB8AC3E}">
        <p14:creationId xmlns:p14="http://schemas.microsoft.com/office/powerpoint/2010/main" val="2295017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5</a:t>
            </a:fld>
            <a:endParaRPr lang="en-US"/>
          </a:p>
        </p:txBody>
      </p:sp>
    </p:spTree>
    <p:extLst>
      <p:ext uri="{BB962C8B-B14F-4D97-AF65-F5344CB8AC3E}">
        <p14:creationId xmlns:p14="http://schemas.microsoft.com/office/powerpoint/2010/main" val="8545011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6</a:t>
            </a:fld>
            <a:endParaRPr lang="en-US"/>
          </a:p>
        </p:txBody>
      </p:sp>
    </p:spTree>
    <p:extLst>
      <p:ext uri="{BB962C8B-B14F-4D97-AF65-F5344CB8AC3E}">
        <p14:creationId xmlns:p14="http://schemas.microsoft.com/office/powerpoint/2010/main" val="27937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7</a:t>
            </a:fld>
            <a:endParaRPr lang="en-US"/>
          </a:p>
        </p:txBody>
      </p:sp>
    </p:spTree>
    <p:extLst>
      <p:ext uri="{BB962C8B-B14F-4D97-AF65-F5344CB8AC3E}">
        <p14:creationId xmlns:p14="http://schemas.microsoft.com/office/powerpoint/2010/main" val="4041863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8</a:t>
            </a:fld>
            <a:endParaRPr lang="en-US"/>
          </a:p>
        </p:txBody>
      </p:sp>
    </p:spTree>
    <p:extLst>
      <p:ext uri="{BB962C8B-B14F-4D97-AF65-F5344CB8AC3E}">
        <p14:creationId xmlns:p14="http://schemas.microsoft.com/office/powerpoint/2010/main" val="2460694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9</a:t>
            </a:fld>
            <a:endParaRPr lang="en-US"/>
          </a:p>
        </p:txBody>
      </p:sp>
    </p:spTree>
    <p:extLst>
      <p:ext uri="{BB962C8B-B14F-4D97-AF65-F5344CB8AC3E}">
        <p14:creationId xmlns:p14="http://schemas.microsoft.com/office/powerpoint/2010/main" val="2986387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8/9/2024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8/9/2024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8/9/2024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8/9/2024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8/9/2024</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8/9/2024</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1524000" y="2286000"/>
            <a:ext cx="9144000" cy="2286000"/>
          </a:xfrm>
        </p:spPr>
        <p:txBody>
          <a:bodyPr/>
          <a:lstStyle/>
          <a:p>
            <a:r>
              <a:rPr lang="en-US" sz="7200" b="1" dirty="0">
                <a:latin typeface="Aharoni" panose="02010803020104030203" pitchFamily="2" charset="-79"/>
                <a:cs typeface="Aharoni" panose="02010803020104030203" pitchFamily="2" charset="-79"/>
              </a:rPr>
              <a:t>MAP </a:t>
            </a:r>
            <a:r>
              <a:rPr lang="en-US" sz="7200" b="1" dirty="0">
                <a:solidFill>
                  <a:srgbClr val="C00000"/>
                </a:solidFill>
                <a:latin typeface="Aharoni" panose="02010803020104030203" pitchFamily="2" charset="-79"/>
                <a:cs typeface="Aharoni" panose="02010803020104030203" pitchFamily="2" charset="-79"/>
              </a:rPr>
              <a:t>x</a:t>
            </a:r>
          </a:p>
        </p:txBody>
      </p:sp>
      <p:sp>
        <p:nvSpPr>
          <p:cNvPr id="2" name="TextBox 1">
            <a:extLst>
              <a:ext uri="{FF2B5EF4-FFF2-40B4-BE49-F238E27FC236}">
                <a16:creationId xmlns:a16="http://schemas.microsoft.com/office/drawing/2014/main" id="{ED1D476D-C210-64B5-068A-DFF81E4FE89A}"/>
              </a:ext>
            </a:extLst>
          </p:cNvPr>
          <p:cNvSpPr txBox="1"/>
          <p:nvPr/>
        </p:nvSpPr>
        <p:spPr>
          <a:xfrm>
            <a:off x="6237513" y="3689943"/>
            <a:ext cx="2841171" cy="523220"/>
          </a:xfrm>
          <a:prstGeom prst="rect">
            <a:avLst/>
          </a:prstGeom>
          <a:noFill/>
        </p:spPr>
        <p:txBody>
          <a:bodyPr wrap="square" rtlCol="0">
            <a:spAutoFit/>
          </a:bodyPr>
          <a:lstStyle/>
          <a:p>
            <a:r>
              <a:rPr lang="en-IN" sz="2800" dirty="0">
                <a:solidFill>
                  <a:schemeClr val="bg1"/>
                </a:solidFill>
                <a:latin typeface="Aharoni" panose="02010803020104030203" pitchFamily="2" charset="-79"/>
                <a:cs typeface="Aharoni" panose="02010803020104030203" pitchFamily="2" charset="-79"/>
              </a:rPr>
              <a:t> STRIK-e</a:t>
            </a:r>
            <a:endParaRPr lang="en-IN" sz="2800" dirty="0">
              <a:latin typeface="Aharoni" panose="02010803020104030203" pitchFamily="2" charset="-79"/>
              <a:cs typeface="Aharoni" panose="02010803020104030203" pitchFamily="2" charset="-79"/>
            </a:endParaRPr>
          </a:p>
        </p:txBody>
      </p:sp>
      <p:cxnSp>
        <p:nvCxnSpPr>
          <p:cNvPr id="12" name="Straight Arrow Connector 11">
            <a:extLst>
              <a:ext uri="{FF2B5EF4-FFF2-40B4-BE49-F238E27FC236}">
                <a16:creationId xmlns:a16="http://schemas.microsoft.com/office/drawing/2014/main" id="{E494A5F7-AA67-FCBC-F6AF-B9DA14460F56}"/>
              </a:ext>
            </a:extLst>
          </p:cNvPr>
          <p:cNvCxnSpPr/>
          <p:nvPr/>
        </p:nvCxnSpPr>
        <p:spPr>
          <a:xfrm>
            <a:off x="6531429" y="4114800"/>
            <a:ext cx="0" cy="1513114"/>
          </a:xfrm>
          <a:prstGeom prst="straightConnector1">
            <a:avLst/>
          </a:prstGeom>
          <a:ln w="28575">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Elbow 13">
            <a:extLst>
              <a:ext uri="{FF2B5EF4-FFF2-40B4-BE49-F238E27FC236}">
                <a16:creationId xmlns:a16="http://schemas.microsoft.com/office/drawing/2014/main" id="{07A56CF4-2DA5-1F55-9AFC-120A24E1C8F3}"/>
              </a:ext>
            </a:extLst>
          </p:cNvPr>
          <p:cNvCxnSpPr>
            <a:cxnSpLocks/>
          </p:cNvCxnSpPr>
          <p:nvPr/>
        </p:nvCxnSpPr>
        <p:spPr>
          <a:xfrm rot="16200000" flipH="1">
            <a:off x="6132879" y="4698407"/>
            <a:ext cx="1893837" cy="726622"/>
          </a:xfrm>
          <a:prstGeom prst="bentConnector3">
            <a:avLst/>
          </a:prstGeom>
          <a:ln w="28575">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Elbow 14">
            <a:extLst>
              <a:ext uri="{FF2B5EF4-FFF2-40B4-BE49-F238E27FC236}">
                <a16:creationId xmlns:a16="http://schemas.microsoft.com/office/drawing/2014/main" id="{C3BD8BAA-2454-135C-69AE-A303E261C7EE}"/>
              </a:ext>
            </a:extLst>
          </p:cNvPr>
          <p:cNvCxnSpPr>
            <a:cxnSpLocks/>
          </p:cNvCxnSpPr>
          <p:nvPr/>
        </p:nvCxnSpPr>
        <p:spPr>
          <a:xfrm rot="5400000" flipH="1" flipV="1">
            <a:off x="6324820" y="2247837"/>
            <a:ext cx="1986206" cy="963392"/>
          </a:xfrm>
          <a:prstGeom prst="bentConnector3">
            <a:avLst>
              <a:gd name="adj1" fmla="val 50000"/>
            </a:avLst>
          </a:prstGeom>
          <a:ln w="28575">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Elbow 22">
            <a:extLst>
              <a:ext uri="{FF2B5EF4-FFF2-40B4-BE49-F238E27FC236}">
                <a16:creationId xmlns:a16="http://schemas.microsoft.com/office/drawing/2014/main" id="{44F668F5-5F6C-6BF3-D647-4B880E648B80}"/>
              </a:ext>
            </a:extLst>
          </p:cNvPr>
          <p:cNvCxnSpPr/>
          <p:nvPr/>
        </p:nvCxnSpPr>
        <p:spPr>
          <a:xfrm rot="16200000" flipH="1">
            <a:off x="6849836" y="4351562"/>
            <a:ext cx="1186544" cy="713017"/>
          </a:xfrm>
          <a:prstGeom prst="bentConnector3">
            <a:avLst/>
          </a:prstGeom>
          <a:ln w="28575">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Elbow 25">
            <a:extLst>
              <a:ext uri="{FF2B5EF4-FFF2-40B4-BE49-F238E27FC236}">
                <a16:creationId xmlns:a16="http://schemas.microsoft.com/office/drawing/2014/main" id="{DB516A39-BEA5-AF3B-E53E-6E8A512364F8}"/>
              </a:ext>
            </a:extLst>
          </p:cNvPr>
          <p:cNvCxnSpPr>
            <a:cxnSpLocks/>
          </p:cNvCxnSpPr>
          <p:nvPr/>
        </p:nvCxnSpPr>
        <p:spPr>
          <a:xfrm flipV="1">
            <a:off x="7317922" y="3429000"/>
            <a:ext cx="1401535" cy="969221"/>
          </a:xfrm>
          <a:prstGeom prst="bentConnector3">
            <a:avLst>
              <a:gd name="adj1" fmla="val 50000"/>
            </a:avLst>
          </a:prstGeom>
          <a:ln w="28575">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DABABCE4-E924-E10B-52A2-FC314A983187}"/>
              </a:ext>
            </a:extLst>
          </p:cNvPr>
          <p:cNvCxnSpPr>
            <a:cxnSpLocks/>
          </p:cNvCxnSpPr>
          <p:nvPr/>
        </p:nvCxnSpPr>
        <p:spPr>
          <a:xfrm>
            <a:off x="7317922" y="4142210"/>
            <a:ext cx="0" cy="256011"/>
          </a:xfrm>
          <a:prstGeom prst="line">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51A5D06B-D0F0-6C1E-A6A5-E035C5B03EB6}"/>
              </a:ext>
            </a:extLst>
          </p:cNvPr>
          <p:cNvSpPr txBox="1"/>
          <p:nvPr/>
        </p:nvSpPr>
        <p:spPr>
          <a:xfrm>
            <a:off x="3978046" y="5588091"/>
            <a:ext cx="2994938" cy="584775"/>
          </a:xfrm>
          <a:prstGeom prst="rect">
            <a:avLst/>
          </a:prstGeom>
          <a:noFill/>
        </p:spPr>
        <p:txBody>
          <a:bodyPr wrap="square" rtlCol="0">
            <a:spAutoFit/>
          </a:bodyPr>
          <a:lstStyle/>
          <a:p>
            <a:r>
              <a:rPr lang="en-IN" sz="2000" b="1" dirty="0">
                <a:solidFill>
                  <a:schemeClr val="bg1"/>
                </a:solidFill>
              </a:rPr>
              <a:t>SHARAN </a:t>
            </a:r>
            <a:r>
              <a:rPr lang="en-IN" sz="3200" b="1" dirty="0">
                <a:solidFill>
                  <a:schemeClr val="bg1"/>
                </a:solidFill>
              </a:rPr>
              <a:t>S</a:t>
            </a:r>
            <a:r>
              <a:rPr lang="en-IN" sz="2000" b="1" dirty="0">
                <a:solidFill>
                  <a:schemeClr val="bg1"/>
                </a:solidFill>
              </a:rPr>
              <a:t>HYAMSUNDAR</a:t>
            </a:r>
          </a:p>
        </p:txBody>
      </p:sp>
      <p:sp>
        <p:nvSpPr>
          <p:cNvPr id="35" name="TextBox 34">
            <a:extLst>
              <a:ext uri="{FF2B5EF4-FFF2-40B4-BE49-F238E27FC236}">
                <a16:creationId xmlns:a16="http://schemas.microsoft.com/office/drawing/2014/main" id="{7F730460-793C-F0BC-3429-9A57099B0A37}"/>
              </a:ext>
            </a:extLst>
          </p:cNvPr>
          <p:cNvSpPr txBox="1"/>
          <p:nvPr/>
        </p:nvSpPr>
        <p:spPr>
          <a:xfrm>
            <a:off x="6716484" y="5930657"/>
            <a:ext cx="2002973" cy="584775"/>
          </a:xfrm>
          <a:prstGeom prst="rect">
            <a:avLst/>
          </a:prstGeom>
          <a:noFill/>
        </p:spPr>
        <p:txBody>
          <a:bodyPr wrap="square" rtlCol="0">
            <a:spAutoFit/>
          </a:bodyPr>
          <a:lstStyle/>
          <a:p>
            <a:r>
              <a:rPr lang="en-IN" sz="2000" b="1" dirty="0">
                <a:solidFill>
                  <a:schemeClr val="bg1"/>
                </a:solidFill>
              </a:rPr>
              <a:t>PRANAV </a:t>
            </a:r>
            <a:r>
              <a:rPr lang="en-IN" sz="3200" b="1" dirty="0">
                <a:solidFill>
                  <a:schemeClr val="bg1"/>
                </a:solidFill>
              </a:rPr>
              <a:t>T</a:t>
            </a:r>
            <a:r>
              <a:rPr lang="en-IN" sz="2000" b="1" dirty="0">
                <a:solidFill>
                  <a:schemeClr val="bg1"/>
                </a:solidFill>
              </a:rPr>
              <a:t>YAGI</a:t>
            </a:r>
          </a:p>
        </p:txBody>
      </p:sp>
      <p:sp>
        <p:nvSpPr>
          <p:cNvPr id="36" name="TextBox 35">
            <a:extLst>
              <a:ext uri="{FF2B5EF4-FFF2-40B4-BE49-F238E27FC236}">
                <a16:creationId xmlns:a16="http://schemas.microsoft.com/office/drawing/2014/main" id="{885A55DF-9ED3-0B6F-7D74-14C8FB2732CB}"/>
              </a:ext>
            </a:extLst>
          </p:cNvPr>
          <p:cNvSpPr txBox="1"/>
          <p:nvPr/>
        </p:nvSpPr>
        <p:spPr>
          <a:xfrm>
            <a:off x="7443108" y="1307069"/>
            <a:ext cx="2136321" cy="584775"/>
          </a:xfrm>
          <a:prstGeom prst="rect">
            <a:avLst/>
          </a:prstGeom>
          <a:noFill/>
        </p:spPr>
        <p:txBody>
          <a:bodyPr wrap="square" rtlCol="0">
            <a:spAutoFit/>
          </a:bodyPr>
          <a:lstStyle/>
          <a:p>
            <a:r>
              <a:rPr lang="en-IN" sz="2000" b="1" dirty="0">
                <a:solidFill>
                  <a:schemeClr val="bg1"/>
                </a:solidFill>
              </a:rPr>
              <a:t>PRIYANKA </a:t>
            </a:r>
            <a:r>
              <a:rPr lang="en-IN" sz="3200" b="1" dirty="0">
                <a:solidFill>
                  <a:schemeClr val="bg1"/>
                </a:solidFill>
              </a:rPr>
              <a:t>R</a:t>
            </a:r>
            <a:r>
              <a:rPr lang="en-IN" sz="2000" b="1" dirty="0">
                <a:solidFill>
                  <a:schemeClr val="bg1"/>
                </a:solidFill>
              </a:rPr>
              <a:t>OY</a:t>
            </a:r>
          </a:p>
        </p:txBody>
      </p:sp>
      <p:sp>
        <p:nvSpPr>
          <p:cNvPr id="37" name="TextBox 36">
            <a:extLst>
              <a:ext uri="{FF2B5EF4-FFF2-40B4-BE49-F238E27FC236}">
                <a16:creationId xmlns:a16="http://schemas.microsoft.com/office/drawing/2014/main" id="{1137612C-34D4-605D-4D70-C20FCA8F887A}"/>
              </a:ext>
            </a:extLst>
          </p:cNvPr>
          <p:cNvSpPr txBox="1"/>
          <p:nvPr/>
        </p:nvSpPr>
        <p:spPr>
          <a:xfrm>
            <a:off x="7699599" y="5169966"/>
            <a:ext cx="2130877" cy="584775"/>
          </a:xfrm>
          <a:prstGeom prst="rect">
            <a:avLst/>
          </a:prstGeom>
          <a:noFill/>
        </p:spPr>
        <p:txBody>
          <a:bodyPr wrap="square" rtlCol="0">
            <a:spAutoFit/>
          </a:bodyPr>
          <a:lstStyle/>
          <a:p>
            <a:r>
              <a:rPr lang="en-IN" sz="2000" b="1" dirty="0">
                <a:solidFill>
                  <a:schemeClr val="bg1"/>
                </a:solidFill>
              </a:rPr>
              <a:t>AAKRITI </a:t>
            </a:r>
            <a:r>
              <a:rPr lang="en-IN" sz="3200" b="1" dirty="0">
                <a:solidFill>
                  <a:schemeClr val="bg1"/>
                </a:solidFill>
              </a:rPr>
              <a:t>I</a:t>
            </a:r>
            <a:r>
              <a:rPr lang="en-IN" sz="2000" b="1" dirty="0">
                <a:solidFill>
                  <a:schemeClr val="bg1"/>
                </a:solidFill>
              </a:rPr>
              <a:t>STWAL</a:t>
            </a:r>
          </a:p>
        </p:txBody>
      </p:sp>
      <p:sp>
        <p:nvSpPr>
          <p:cNvPr id="38" name="TextBox 37">
            <a:extLst>
              <a:ext uri="{FF2B5EF4-FFF2-40B4-BE49-F238E27FC236}">
                <a16:creationId xmlns:a16="http://schemas.microsoft.com/office/drawing/2014/main" id="{95482700-B258-9F0F-8BB1-892333E3032F}"/>
              </a:ext>
            </a:extLst>
          </p:cNvPr>
          <p:cNvSpPr txBox="1"/>
          <p:nvPr/>
        </p:nvSpPr>
        <p:spPr>
          <a:xfrm>
            <a:off x="8765038" y="3267279"/>
            <a:ext cx="2305733" cy="892552"/>
          </a:xfrm>
          <a:prstGeom prst="rect">
            <a:avLst/>
          </a:prstGeom>
          <a:noFill/>
        </p:spPr>
        <p:txBody>
          <a:bodyPr wrap="square" rtlCol="0">
            <a:spAutoFit/>
          </a:bodyPr>
          <a:lstStyle/>
          <a:p>
            <a:r>
              <a:rPr lang="en-IN" sz="2000" b="1" dirty="0">
                <a:solidFill>
                  <a:schemeClr val="bg1"/>
                </a:solidFill>
              </a:rPr>
              <a:t>SREEHARI PRADEEP </a:t>
            </a:r>
            <a:r>
              <a:rPr lang="en-IN" sz="3200" b="1" dirty="0">
                <a:solidFill>
                  <a:schemeClr val="bg1"/>
                </a:solidFill>
              </a:rPr>
              <a:t>K</a:t>
            </a:r>
            <a:r>
              <a:rPr lang="en-IN" sz="2000" b="1" dirty="0">
                <a:solidFill>
                  <a:schemeClr val="bg1"/>
                </a:solidFill>
              </a:rPr>
              <a:t>UMAR</a:t>
            </a:r>
          </a:p>
        </p:txBody>
      </p:sp>
    </p:spTree>
    <p:extLst>
      <p:ext uri="{BB962C8B-B14F-4D97-AF65-F5344CB8AC3E}">
        <p14:creationId xmlns:p14="http://schemas.microsoft.com/office/powerpoint/2010/main" val="6392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ctrTitle"/>
          </p:nvPr>
        </p:nvSpPr>
        <p:spPr>
          <a:xfrm>
            <a:off x="1524000" y="1143000"/>
            <a:ext cx="9144000" cy="2286000"/>
          </a:xfrm>
          <a:noFill/>
        </p:spPr>
        <p:txBody>
          <a:bodyPr/>
          <a:lstStyle/>
          <a:p>
            <a:r>
              <a:rPr lang="en-US" sz="2400" dirty="0"/>
              <a:t>Automate schema mapping across diverse databases to streamline data integration and reduce manual errors.</a:t>
            </a:r>
          </a:p>
        </p:txBody>
      </p:sp>
      <p:sp>
        <p:nvSpPr>
          <p:cNvPr id="12" name="Subtitle 11">
            <a:extLst>
              <a:ext uri="{FF2B5EF4-FFF2-40B4-BE49-F238E27FC236}">
                <a16:creationId xmlns:a16="http://schemas.microsoft.com/office/drawing/2014/main" id="{A336FEA9-C85A-3569-16F0-5ECBABBE0BEC}"/>
              </a:ext>
            </a:extLst>
          </p:cNvPr>
          <p:cNvSpPr>
            <a:spLocks noGrp="1"/>
          </p:cNvSpPr>
          <p:nvPr>
            <p:ph type="subTitle" idx="1"/>
          </p:nvPr>
        </p:nvSpPr>
        <p:spPr>
          <a:xfrm>
            <a:off x="1524000" y="3835198"/>
            <a:ext cx="9144000" cy="683219"/>
          </a:xfrm>
        </p:spPr>
        <p:txBody>
          <a:bodyPr/>
          <a:lstStyle/>
          <a:p>
            <a:r>
              <a:rPr lang="en-US" b="1" dirty="0"/>
              <a:t>Problem Statement</a:t>
            </a:r>
          </a:p>
        </p:txBody>
      </p:sp>
    </p:spTree>
    <p:extLst>
      <p:ext uri="{BB962C8B-B14F-4D97-AF65-F5344CB8AC3E}">
        <p14:creationId xmlns:p14="http://schemas.microsoft.com/office/powerpoint/2010/main" val="1679936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AD706-11EF-C258-EBD5-C4EEFEAACF16}"/>
              </a:ext>
            </a:extLst>
          </p:cNvPr>
          <p:cNvSpPr>
            <a:spLocks noGrp="1"/>
          </p:cNvSpPr>
          <p:nvPr>
            <p:ph type="title"/>
          </p:nvPr>
        </p:nvSpPr>
        <p:spPr>
          <a:xfrm>
            <a:off x="838200" y="365760"/>
            <a:ext cx="10515600" cy="1325563"/>
          </a:xfrm>
        </p:spPr>
        <p:txBody>
          <a:bodyPr vert="horz" lIns="91440" tIns="45720" rIns="91440" bIns="45720" rtlCol="0" anchor="ctr" anchorCtr="0">
            <a:normAutofit/>
          </a:bodyPr>
          <a:lstStyle/>
          <a:p>
            <a:r>
              <a:rPr lang="en-US" b="1" kern="1200" cap="all" spc="300" baseline="0" dirty="0">
                <a:latin typeface="+mj-lt"/>
                <a:ea typeface="+mj-ea"/>
                <a:cs typeface="+mj-cs"/>
              </a:rPr>
              <a:t>AGENDA</a:t>
            </a:r>
          </a:p>
        </p:txBody>
      </p:sp>
      <p:sp>
        <p:nvSpPr>
          <p:cNvPr id="6" name="TextBox 5">
            <a:extLst>
              <a:ext uri="{FF2B5EF4-FFF2-40B4-BE49-F238E27FC236}">
                <a16:creationId xmlns:a16="http://schemas.microsoft.com/office/drawing/2014/main" id="{C88D6F7A-C017-496A-B7D2-B8EE4483E46B}"/>
              </a:ext>
            </a:extLst>
          </p:cNvPr>
          <p:cNvSpPr txBox="1"/>
          <p:nvPr/>
        </p:nvSpPr>
        <p:spPr>
          <a:xfrm>
            <a:off x="526763" y="2743597"/>
            <a:ext cx="2728066" cy="2973501"/>
          </a:xfrm>
          <a:prstGeom prst="rect">
            <a:avLst/>
          </a:prstGeom>
        </p:spPr>
        <p:txBody>
          <a:bodyPr vert="horz" lIns="91440" tIns="45720" rIns="91440" bIns="45720" rtlCol="0">
            <a:noAutofit/>
          </a:bodyPr>
          <a:lstStyle/>
          <a:p>
            <a:pPr>
              <a:lnSpc>
                <a:spcPct val="90000"/>
              </a:lnSpc>
              <a:spcBef>
                <a:spcPts val="1000"/>
              </a:spcBef>
              <a:buClr>
                <a:schemeClr val="accent2"/>
              </a:buClr>
              <a:buFont typeface="Wingdings" panose="05000000000000000000" pitchFamily="2" charset="2"/>
            </a:pPr>
            <a:r>
              <a:rPr lang="en-US" sz="4000" b="1"/>
              <a:t>LET’S GET INTO BUSINESS</a:t>
            </a:r>
            <a:endParaRPr lang="en-US" sz="4000" b="1" dirty="0"/>
          </a:p>
        </p:txBody>
      </p:sp>
      <p:graphicFrame>
        <p:nvGraphicFramePr>
          <p:cNvPr id="8" name="Content Placeholder 2">
            <a:extLst>
              <a:ext uri="{FF2B5EF4-FFF2-40B4-BE49-F238E27FC236}">
                <a16:creationId xmlns:a16="http://schemas.microsoft.com/office/drawing/2014/main" id="{9E8E67D2-CA26-BFEA-F4D8-FCCA3B44C068}"/>
              </a:ext>
            </a:extLst>
          </p:cNvPr>
          <p:cNvGraphicFramePr>
            <a:graphicFrameLocks noGrp="1"/>
          </p:cNvGraphicFramePr>
          <p:nvPr>
            <p:ph type="tbl" sz="quarter" idx="13"/>
            <p:extLst>
              <p:ext uri="{D42A27DB-BD31-4B8C-83A1-F6EECF244321}">
                <p14:modId xmlns:p14="http://schemas.microsoft.com/office/powerpoint/2010/main" val="3645623234"/>
              </p:ext>
            </p:extLst>
          </p:nvPr>
        </p:nvGraphicFramePr>
        <p:xfrm>
          <a:off x="4148008" y="2084796"/>
          <a:ext cx="7020734" cy="35760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72017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close up of computer code">
            <a:extLst>
              <a:ext uri="{FF2B5EF4-FFF2-40B4-BE49-F238E27FC236}">
                <a16:creationId xmlns:a16="http://schemas.microsoft.com/office/drawing/2014/main" id="{94D43AA7-0244-2FEB-86AC-B5DECE0232D8}"/>
              </a:ext>
            </a:extLst>
          </p:cNvPr>
          <p:cNvPicPr>
            <a:picLocks noGrp="1" noChangeAspect="1"/>
          </p:cNvPicPr>
          <p:nvPr>
            <p:ph type="pic" sz="quarter" idx="10"/>
          </p:nvPr>
        </p:nvPicPr>
        <p:blipFill rotWithShape="1">
          <a:blip r:embed="rId3">
            <a:alphaModFix amt="40000"/>
            <a:extLst>
              <a:ext uri="{BEBA8EAE-BF5A-486C-A8C5-ECC9F3942E4B}">
                <a14:imgProps xmlns:a14="http://schemas.microsoft.com/office/drawing/2010/main">
                  <a14:imgLayer r:embed="rId4">
                    <a14:imgEffect>
                      <a14:saturation sat="0"/>
                    </a14:imgEffect>
                  </a14:imgLayer>
                </a14:imgProps>
              </a:ext>
            </a:extLst>
          </a:blip>
          <a:srcRect t="7813" b="7813"/>
          <a:stretch/>
        </p:blipFill>
        <p:spPr>
          <a:xfrm>
            <a:off x="0" y="0"/>
            <a:ext cx="12192000" cy="6858000"/>
          </a:xfrm>
        </p:spPr>
      </p:pic>
      <p:sp>
        <p:nvSpPr>
          <p:cNvPr id="3" name="Title 2">
            <a:extLst>
              <a:ext uri="{FF2B5EF4-FFF2-40B4-BE49-F238E27FC236}">
                <a16:creationId xmlns:a16="http://schemas.microsoft.com/office/drawing/2014/main" id="{B2F3FA79-DE26-1F2A-0CF7-5671B73C8B6F}"/>
              </a:ext>
            </a:extLst>
          </p:cNvPr>
          <p:cNvSpPr>
            <a:spLocks noGrp="1"/>
          </p:cNvSpPr>
          <p:nvPr>
            <p:ph type="ctrTitle"/>
          </p:nvPr>
        </p:nvSpPr>
        <p:spPr>
          <a:xfrm>
            <a:off x="-1415143" y="2286000"/>
            <a:ext cx="9144000" cy="2286000"/>
          </a:xfrm>
        </p:spPr>
        <p:txBody>
          <a:bodyPr/>
          <a:lstStyle/>
          <a:p>
            <a:r>
              <a:rPr lang="en-US" b="1" dirty="0"/>
              <a:t>Databases</a:t>
            </a:r>
          </a:p>
        </p:txBody>
      </p:sp>
      <p:cxnSp>
        <p:nvCxnSpPr>
          <p:cNvPr id="5" name="Connector: Elbow 4">
            <a:extLst>
              <a:ext uri="{FF2B5EF4-FFF2-40B4-BE49-F238E27FC236}">
                <a16:creationId xmlns:a16="http://schemas.microsoft.com/office/drawing/2014/main" id="{1CCF27C0-8DA8-94A7-122E-EEF80DFDF98B}"/>
              </a:ext>
            </a:extLst>
          </p:cNvPr>
          <p:cNvCxnSpPr/>
          <p:nvPr/>
        </p:nvCxnSpPr>
        <p:spPr>
          <a:xfrm flipV="1">
            <a:off x="4806972" y="1529576"/>
            <a:ext cx="2007220" cy="1823224"/>
          </a:xfrm>
          <a:prstGeom prst="bentConnector3">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Elbow 10">
            <a:extLst>
              <a:ext uri="{FF2B5EF4-FFF2-40B4-BE49-F238E27FC236}">
                <a16:creationId xmlns:a16="http://schemas.microsoft.com/office/drawing/2014/main" id="{AE9F2775-5A5B-5C8C-85CF-40DDA5724378}"/>
              </a:ext>
            </a:extLst>
          </p:cNvPr>
          <p:cNvCxnSpPr>
            <a:cxnSpLocks/>
          </p:cNvCxnSpPr>
          <p:nvPr/>
        </p:nvCxnSpPr>
        <p:spPr>
          <a:xfrm>
            <a:off x="4806972" y="3429000"/>
            <a:ext cx="2007220" cy="1698171"/>
          </a:xfrm>
          <a:prstGeom prst="bentConnector3">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1C8FBF71-C36C-FFDC-5EB5-E219F0EF739D}"/>
              </a:ext>
            </a:extLst>
          </p:cNvPr>
          <p:cNvSpPr txBox="1"/>
          <p:nvPr/>
        </p:nvSpPr>
        <p:spPr>
          <a:xfrm>
            <a:off x="6955971" y="1175632"/>
            <a:ext cx="2547257" cy="707886"/>
          </a:xfrm>
          <a:prstGeom prst="rect">
            <a:avLst/>
          </a:prstGeom>
          <a:noFill/>
        </p:spPr>
        <p:txBody>
          <a:bodyPr wrap="square" rtlCol="0">
            <a:spAutoFit/>
          </a:bodyPr>
          <a:lstStyle/>
          <a:p>
            <a:r>
              <a:rPr lang="en-IN" sz="4000" b="1" dirty="0">
                <a:solidFill>
                  <a:schemeClr val="bg1"/>
                </a:solidFill>
              </a:rPr>
              <a:t>SAP</a:t>
            </a:r>
          </a:p>
        </p:txBody>
      </p:sp>
      <p:sp>
        <p:nvSpPr>
          <p:cNvPr id="15" name="TextBox 14">
            <a:extLst>
              <a:ext uri="{FF2B5EF4-FFF2-40B4-BE49-F238E27FC236}">
                <a16:creationId xmlns:a16="http://schemas.microsoft.com/office/drawing/2014/main" id="{F723091D-D6CC-AC20-655A-D446AB2E33D2}"/>
              </a:ext>
            </a:extLst>
          </p:cNvPr>
          <p:cNvSpPr txBox="1"/>
          <p:nvPr/>
        </p:nvSpPr>
        <p:spPr>
          <a:xfrm>
            <a:off x="6955971" y="4789399"/>
            <a:ext cx="2209800" cy="707886"/>
          </a:xfrm>
          <a:prstGeom prst="rect">
            <a:avLst/>
          </a:prstGeom>
          <a:noFill/>
        </p:spPr>
        <p:txBody>
          <a:bodyPr wrap="square" rtlCol="0">
            <a:spAutoFit/>
          </a:bodyPr>
          <a:lstStyle/>
          <a:p>
            <a:r>
              <a:rPr lang="en-IN" sz="4000" b="1" dirty="0">
                <a:solidFill>
                  <a:schemeClr val="bg1"/>
                </a:solidFill>
              </a:rPr>
              <a:t>ORACLE</a:t>
            </a:r>
          </a:p>
        </p:txBody>
      </p:sp>
    </p:spTree>
    <p:extLst>
      <p:ext uri="{BB962C8B-B14F-4D97-AF65-F5344CB8AC3E}">
        <p14:creationId xmlns:p14="http://schemas.microsoft.com/office/powerpoint/2010/main" val="467869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Deep learning AI linear icon Stock ...">
            <a:extLst>
              <a:ext uri="{FF2B5EF4-FFF2-40B4-BE49-F238E27FC236}">
                <a16:creationId xmlns:a16="http://schemas.microsoft.com/office/drawing/2014/main" id="{943B1B7D-01F0-01A5-EE51-B05F44A3245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472" b="6756"/>
          <a:stretch/>
        </p:blipFill>
        <p:spPr bwMode="auto">
          <a:xfrm>
            <a:off x="9487676" y="696303"/>
            <a:ext cx="2103901" cy="2215967"/>
          </a:xfrm>
          <a:prstGeom prst="rect">
            <a:avLst/>
          </a:prstGeom>
          <a:noFill/>
          <a:extLst>
            <a:ext uri="{909E8E84-426E-40DD-AFC4-6F175D3DCCD1}">
              <a14:hiddenFill xmlns:a14="http://schemas.microsoft.com/office/drawing/2010/main">
                <a:solidFill>
                  <a:srgbClr val="FFFFFF"/>
                </a:solidFill>
              </a14:hiddenFill>
            </a:ext>
          </a:extLst>
        </p:spPr>
      </p:pic>
      <p:sp>
        <p:nvSpPr>
          <p:cNvPr id="15" name="Subtitle 14">
            <a:extLst>
              <a:ext uri="{FF2B5EF4-FFF2-40B4-BE49-F238E27FC236}">
                <a16:creationId xmlns:a16="http://schemas.microsoft.com/office/drawing/2014/main" id="{9C373000-EEA1-D16F-189A-338FFDA2E708}"/>
              </a:ext>
            </a:extLst>
          </p:cNvPr>
          <p:cNvSpPr>
            <a:spLocks noGrp="1"/>
          </p:cNvSpPr>
          <p:nvPr>
            <p:ph type="subTitle" idx="1"/>
          </p:nvPr>
        </p:nvSpPr>
        <p:spPr>
          <a:xfrm>
            <a:off x="307579" y="222801"/>
            <a:ext cx="5066250" cy="690880"/>
          </a:xfrm>
        </p:spPr>
        <p:txBody>
          <a:bodyPr>
            <a:noAutofit/>
          </a:bodyPr>
          <a:lstStyle/>
          <a:p>
            <a:r>
              <a:rPr lang="en-US" sz="4400" b="1" dirty="0"/>
              <a:t>SCHEMA MAPPING I</a:t>
            </a:r>
          </a:p>
        </p:txBody>
      </p:sp>
      <p:sp>
        <p:nvSpPr>
          <p:cNvPr id="23" name="TextBox 22">
            <a:extLst>
              <a:ext uri="{FF2B5EF4-FFF2-40B4-BE49-F238E27FC236}">
                <a16:creationId xmlns:a16="http://schemas.microsoft.com/office/drawing/2014/main" id="{244BB699-B79C-478E-E738-030E97765599}"/>
              </a:ext>
            </a:extLst>
          </p:cNvPr>
          <p:cNvSpPr txBox="1"/>
          <p:nvPr/>
        </p:nvSpPr>
        <p:spPr>
          <a:xfrm>
            <a:off x="871119" y="1100531"/>
            <a:ext cx="814039" cy="369332"/>
          </a:xfrm>
          <a:prstGeom prst="rect">
            <a:avLst/>
          </a:prstGeom>
          <a:noFill/>
        </p:spPr>
        <p:txBody>
          <a:bodyPr wrap="square" rtlCol="0">
            <a:spAutoFit/>
          </a:bodyPr>
          <a:lstStyle/>
          <a:p>
            <a:r>
              <a:rPr lang="en-IN" b="1" dirty="0"/>
              <a:t>SAP</a:t>
            </a:r>
          </a:p>
        </p:txBody>
      </p:sp>
      <p:sp>
        <p:nvSpPr>
          <p:cNvPr id="26" name="TextBox 25">
            <a:extLst>
              <a:ext uri="{FF2B5EF4-FFF2-40B4-BE49-F238E27FC236}">
                <a16:creationId xmlns:a16="http://schemas.microsoft.com/office/drawing/2014/main" id="{FC3E48E8-CFE4-B355-22F5-63DA8E31BB90}"/>
              </a:ext>
            </a:extLst>
          </p:cNvPr>
          <p:cNvSpPr txBox="1"/>
          <p:nvPr/>
        </p:nvSpPr>
        <p:spPr>
          <a:xfrm>
            <a:off x="2205385" y="1071657"/>
            <a:ext cx="971431" cy="369332"/>
          </a:xfrm>
          <a:prstGeom prst="rect">
            <a:avLst/>
          </a:prstGeom>
          <a:noFill/>
        </p:spPr>
        <p:txBody>
          <a:bodyPr wrap="square" rtlCol="0">
            <a:spAutoFit/>
          </a:bodyPr>
          <a:lstStyle/>
          <a:p>
            <a:r>
              <a:rPr lang="en-IN" b="1" dirty="0"/>
              <a:t>ORACLE</a:t>
            </a:r>
          </a:p>
        </p:txBody>
      </p:sp>
      <p:sp>
        <p:nvSpPr>
          <p:cNvPr id="42" name="TextBox 41">
            <a:extLst>
              <a:ext uri="{FF2B5EF4-FFF2-40B4-BE49-F238E27FC236}">
                <a16:creationId xmlns:a16="http://schemas.microsoft.com/office/drawing/2014/main" id="{6D9287E2-18A8-6CA1-D578-7F0E415F7E51}"/>
              </a:ext>
            </a:extLst>
          </p:cNvPr>
          <p:cNvSpPr txBox="1"/>
          <p:nvPr/>
        </p:nvSpPr>
        <p:spPr>
          <a:xfrm>
            <a:off x="7119257" y="913681"/>
            <a:ext cx="4179790" cy="1938992"/>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pPr>
            <a:r>
              <a:rPr lang="en-US" altLang="en-US" sz="2000" b="1" dirty="0">
                <a:latin typeface="Arial" panose="020B0604020202020204" pitchFamily="34" charset="0"/>
              </a:rPr>
              <a:t>MODEL USED:</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lang="en-US" altLang="en-US" sz="2000" dirty="0">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lang="en-US" altLang="en-US" sz="2000" b="1" dirty="0">
                <a:latin typeface="Arial" panose="020B0604020202020204" pitchFamily="34" charset="0"/>
              </a:rPr>
              <a:t>sentence-transformers/all-MiniLM-L6-v2</a:t>
            </a:r>
            <a:endParaRPr kumimoji="0" lang="en-US" altLang="en-US" sz="2000" b="1" i="0" u="none" strike="noStrike" cap="none" normalizeH="0" baseline="0" dirty="0">
              <a:ln>
                <a:noFill/>
              </a:ln>
              <a:solidFill>
                <a:schemeClr val="tx1"/>
              </a:solidFill>
              <a:effectLst/>
              <a:latin typeface="Arial" panose="020B0604020202020204" pitchFamily="34" charset="0"/>
            </a:endParaRPr>
          </a:p>
        </p:txBody>
      </p:sp>
      <p:pic>
        <p:nvPicPr>
          <p:cNvPr id="51" name="Picture 14" descr="36,000+ Database Icon Stock Illustrations, Royalty-Free ...">
            <a:extLst>
              <a:ext uri="{FF2B5EF4-FFF2-40B4-BE49-F238E27FC236}">
                <a16:creationId xmlns:a16="http://schemas.microsoft.com/office/drawing/2014/main" id="{2FBC900F-9713-C55E-220D-AABB5B3969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4080" y="1447906"/>
            <a:ext cx="814039" cy="814039"/>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4" descr="36,000+ Database Icon Stock Illustrations, Royalty-Free ...">
            <a:extLst>
              <a:ext uri="{FF2B5EF4-FFF2-40B4-BE49-F238E27FC236}">
                <a16:creationId xmlns:a16="http://schemas.microsoft.com/office/drawing/2014/main" id="{71DF6F36-618C-5E13-2004-428D14DC73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1122" y="1447906"/>
            <a:ext cx="814039" cy="814039"/>
          </a:xfrm>
          <a:prstGeom prst="rect">
            <a:avLst/>
          </a:prstGeom>
          <a:noFill/>
          <a:extLst>
            <a:ext uri="{909E8E84-426E-40DD-AFC4-6F175D3DCCD1}">
              <a14:hiddenFill xmlns:a14="http://schemas.microsoft.com/office/drawing/2010/main">
                <a:solidFill>
                  <a:srgbClr val="FFFFFF"/>
                </a:solidFill>
              </a14:hiddenFill>
            </a:ext>
          </a:extLst>
        </p:spPr>
      </p:pic>
      <p:sp>
        <p:nvSpPr>
          <p:cNvPr id="54" name="TextBox 53">
            <a:extLst>
              <a:ext uri="{FF2B5EF4-FFF2-40B4-BE49-F238E27FC236}">
                <a16:creationId xmlns:a16="http://schemas.microsoft.com/office/drawing/2014/main" id="{344BB75C-9665-7A46-99E6-1066B7A1FE1F}"/>
              </a:ext>
            </a:extLst>
          </p:cNvPr>
          <p:cNvSpPr txBox="1"/>
          <p:nvPr/>
        </p:nvSpPr>
        <p:spPr>
          <a:xfrm>
            <a:off x="192115" y="2261945"/>
            <a:ext cx="958261" cy="369332"/>
          </a:xfrm>
          <a:prstGeom prst="rect">
            <a:avLst/>
          </a:prstGeom>
          <a:noFill/>
        </p:spPr>
        <p:txBody>
          <a:bodyPr wrap="square">
            <a:spAutoFit/>
          </a:bodyPr>
          <a:lstStyle/>
          <a:p>
            <a:r>
              <a:rPr lang="en-IN" b="1" dirty="0"/>
              <a:t>DD02T</a:t>
            </a:r>
          </a:p>
        </p:txBody>
      </p:sp>
      <p:sp>
        <p:nvSpPr>
          <p:cNvPr id="56" name="TextBox 55">
            <a:extLst>
              <a:ext uri="{FF2B5EF4-FFF2-40B4-BE49-F238E27FC236}">
                <a16:creationId xmlns:a16="http://schemas.microsoft.com/office/drawing/2014/main" id="{4B0BDAFA-5B66-F56E-35E6-4C80E4505E40}"/>
              </a:ext>
            </a:extLst>
          </p:cNvPr>
          <p:cNvSpPr txBox="1"/>
          <p:nvPr/>
        </p:nvSpPr>
        <p:spPr>
          <a:xfrm>
            <a:off x="2836747" y="2210812"/>
            <a:ext cx="2452007" cy="369332"/>
          </a:xfrm>
          <a:prstGeom prst="rect">
            <a:avLst/>
          </a:prstGeom>
          <a:noFill/>
        </p:spPr>
        <p:txBody>
          <a:bodyPr wrap="square">
            <a:spAutoFit/>
          </a:bodyPr>
          <a:lstStyle/>
          <a:p>
            <a:r>
              <a:rPr lang="en-IN" b="1" dirty="0"/>
              <a:t>APPLSYS_FND_TABLES</a:t>
            </a:r>
          </a:p>
        </p:txBody>
      </p:sp>
      <p:sp>
        <p:nvSpPr>
          <p:cNvPr id="57" name="Rectangle: Rounded Corners 56">
            <a:extLst>
              <a:ext uri="{FF2B5EF4-FFF2-40B4-BE49-F238E27FC236}">
                <a16:creationId xmlns:a16="http://schemas.microsoft.com/office/drawing/2014/main" id="{2F55305B-39E4-D1A3-FF9F-A7EB5985AAE4}"/>
              </a:ext>
            </a:extLst>
          </p:cNvPr>
          <p:cNvSpPr/>
          <p:nvPr/>
        </p:nvSpPr>
        <p:spPr>
          <a:xfrm>
            <a:off x="871119" y="2738120"/>
            <a:ext cx="2216127" cy="69088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b="1" dirty="0"/>
              <a:t>Table Description Embeddings</a:t>
            </a:r>
          </a:p>
        </p:txBody>
      </p:sp>
      <p:cxnSp>
        <p:nvCxnSpPr>
          <p:cNvPr id="59" name="Straight Arrow Connector 58">
            <a:extLst>
              <a:ext uri="{FF2B5EF4-FFF2-40B4-BE49-F238E27FC236}">
                <a16:creationId xmlns:a16="http://schemas.microsoft.com/office/drawing/2014/main" id="{45C0723F-3640-EB74-BD24-9987E3910522}"/>
              </a:ext>
            </a:extLst>
          </p:cNvPr>
          <p:cNvCxnSpPr>
            <a:stCxn id="52" idx="2"/>
          </p:cNvCxnSpPr>
          <p:nvPr/>
        </p:nvCxnSpPr>
        <p:spPr>
          <a:xfrm flipH="1">
            <a:off x="1168141" y="2261945"/>
            <a:ext cx="1" cy="3928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FBF0BF54-4A2E-14B3-39FD-9C7C33F5ACB3}"/>
              </a:ext>
            </a:extLst>
          </p:cNvPr>
          <p:cNvCxnSpPr>
            <a:cxnSpLocks/>
          </p:cNvCxnSpPr>
          <p:nvPr/>
        </p:nvCxnSpPr>
        <p:spPr>
          <a:xfrm flipH="1">
            <a:off x="2704324" y="2276623"/>
            <a:ext cx="1" cy="39285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graphicFrame>
        <p:nvGraphicFramePr>
          <p:cNvPr id="62" name="Table 61">
            <a:extLst>
              <a:ext uri="{FF2B5EF4-FFF2-40B4-BE49-F238E27FC236}">
                <a16:creationId xmlns:a16="http://schemas.microsoft.com/office/drawing/2014/main" id="{948AA139-5326-4A50-ADE2-4553C6CBBD37}"/>
              </a:ext>
            </a:extLst>
          </p:cNvPr>
          <p:cNvGraphicFramePr>
            <a:graphicFrameLocks noGrp="1"/>
          </p:cNvGraphicFramePr>
          <p:nvPr>
            <p:extLst>
              <p:ext uri="{D42A27DB-BD31-4B8C-83A1-F6EECF244321}">
                <p14:modId xmlns:p14="http://schemas.microsoft.com/office/powerpoint/2010/main" val="804523816"/>
              </p:ext>
            </p:extLst>
          </p:nvPr>
        </p:nvGraphicFramePr>
        <p:xfrm>
          <a:off x="307579" y="3965737"/>
          <a:ext cx="1127080" cy="731520"/>
        </p:xfrm>
        <a:graphic>
          <a:graphicData uri="http://schemas.openxmlformats.org/drawingml/2006/table">
            <a:tbl>
              <a:tblPr firstRow="1" bandRow="1">
                <a:tableStyleId>{BDBED569-4797-4DF1-A0F4-6AAB3CD982D8}</a:tableStyleId>
              </a:tblPr>
              <a:tblGrid>
                <a:gridCol w="563540">
                  <a:extLst>
                    <a:ext uri="{9D8B030D-6E8A-4147-A177-3AD203B41FA5}">
                      <a16:colId xmlns:a16="http://schemas.microsoft.com/office/drawing/2014/main" val="2717387569"/>
                    </a:ext>
                  </a:extLst>
                </a:gridCol>
                <a:gridCol w="563540">
                  <a:extLst>
                    <a:ext uri="{9D8B030D-6E8A-4147-A177-3AD203B41FA5}">
                      <a16:colId xmlns:a16="http://schemas.microsoft.com/office/drawing/2014/main" val="927336512"/>
                    </a:ext>
                  </a:extLst>
                </a:gridCol>
              </a:tblGrid>
              <a:tr h="28056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05343768"/>
                  </a:ext>
                </a:extLst>
              </a:tr>
              <a:tr h="280560">
                <a:tc>
                  <a:txBody>
                    <a:bodyPr/>
                    <a:lstStyle/>
                    <a:p>
                      <a:endParaRPr lang="en-IN"/>
                    </a:p>
                  </a:txBody>
                  <a:tcPr/>
                </a:tc>
                <a:tc>
                  <a:txBody>
                    <a:bodyPr/>
                    <a:lstStyle/>
                    <a:p>
                      <a:endParaRPr lang="en-IN" dirty="0"/>
                    </a:p>
                  </a:txBody>
                  <a:tcPr/>
                </a:tc>
                <a:extLst>
                  <a:ext uri="{0D108BD9-81ED-4DB2-BD59-A6C34878D82A}">
                    <a16:rowId xmlns:a16="http://schemas.microsoft.com/office/drawing/2014/main" val="4254012097"/>
                  </a:ext>
                </a:extLst>
              </a:tr>
            </a:tbl>
          </a:graphicData>
        </a:graphic>
      </p:graphicFrame>
      <p:graphicFrame>
        <p:nvGraphicFramePr>
          <p:cNvPr id="67" name="Table 66">
            <a:extLst>
              <a:ext uri="{FF2B5EF4-FFF2-40B4-BE49-F238E27FC236}">
                <a16:creationId xmlns:a16="http://schemas.microsoft.com/office/drawing/2014/main" id="{EED55003-D5F5-C2F2-B5E5-2380DC5816B5}"/>
              </a:ext>
            </a:extLst>
          </p:cNvPr>
          <p:cNvGraphicFramePr>
            <a:graphicFrameLocks noGrp="1"/>
          </p:cNvGraphicFramePr>
          <p:nvPr>
            <p:extLst>
              <p:ext uri="{D42A27DB-BD31-4B8C-83A1-F6EECF244321}">
                <p14:modId xmlns:p14="http://schemas.microsoft.com/office/powerpoint/2010/main" val="2472835729"/>
              </p:ext>
            </p:extLst>
          </p:nvPr>
        </p:nvGraphicFramePr>
        <p:xfrm>
          <a:off x="2691099" y="3955772"/>
          <a:ext cx="1127080" cy="731520"/>
        </p:xfrm>
        <a:graphic>
          <a:graphicData uri="http://schemas.openxmlformats.org/drawingml/2006/table">
            <a:tbl>
              <a:tblPr firstRow="1" bandRow="1">
                <a:tableStyleId>{BDBED569-4797-4DF1-A0F4-6AAB3CD982D8}</a:tableStyleId>
              </a:tblPr>
              <a:tblGrid>
                <a:gridCol w="563540">
                  <a:extLst>
                    <a:ext uri="{9D8B030D-6E8A-4147-A177-3AD203B41FA5}">
                      <a16:colId xmlns:a16="http://schemas.microsoft.com/office/drawing/2014/main" val="2717387569"/>
                    </a:ext>
                  </a:extLst>
                </a:gridCol>
                <a:gridCol w="563540">
                  <a:extLst>
                    <a:ext uri="{9D8B030D-6E8A-4147-A177-3AD203B41FA5}">
                      <a16:colId xmlns:a16="http://schemas.microsoft.com/office/drawing/2014/main" val="927336512"/>
                    </a:ext>
                  </a:extLst>
                </a:gridCol>
              </a:tblGrid>
              <a:tr h="280560">
                <a:tc>
                  <a:txBody>
                    <a:bodyPr/>
                    <a:lstStyle/>
                    <a:p>
                      <a:endParaRPr lang="en-IN"/>
                    </a:p>
                  </a:txBody>
                  <a:tcPr/>
                </a:tc>
                <a:tc>
                  <a:txBody>
                    <a:bodyPr/>
                    <a:lstStyle/>
                    <a:p>
                      <a:endParaRPr lang="en-IN" dirty="0"/>
                    </a:p>
                  </a:txBody>
                  <a:tcPr/>
                </a:tc>
                <a:extLst>
                  <a:ext uri="{0D108BD9-81ED-4DB2-BD59-A6C34878D82A}">
                    <a16:rowId xmlns:a16="http://schemas.microsoft.com/office/drawing/2014/main" val="3605343768"/>
                  </a:ext>
                </a:extLst>
              </a:tr>
              <a:tr h="280560">
                <a:tc>
                  <a:txBody>
                    <a:bodyPr/>
                    <a:lstStyle/>
                    <a:p>
                      <a:endParaRPr lang="en-IN"/>
                    </a:p>
                  </a:txBody>
                  <a:tcPr/>
                </a:tc>
                <a:tc>
                  <a:txBody>
                    <a:bodyPr/>
                    <a:lstStyle/>
                    <a:p>
                      <a:endParaRPr lang="en-IN" dirty="0"/>
                    </a:p>
                  </a:txBody>
                  <a:tcPr/>
                </a:tc>
                <a:extLst>
                  <a:ext uri="{0D108BD9-81ED-4DB2-BD59-A6C34878D82A}">
                    <a16:rowId xmlns:a16="http://schemas.microsoft.com/office/drawing/2014/main" val="4254012097"/>
                  </a:ext>
                </a:extLst>
              </a:tr>
            </a:tbl>
          </a:graphicData>
        </a:graphic>
      </p:graphicFrame>
      <p:cxnSp>
        <p:nvCxnSpPr>
          <p:cNvPr id="70" name="Straight Arrow Connector 69">
            <a:extLst>
              <a:ext uri="{FF2B5EF4-FFF2-40B4-BE49-F238E27FC236}">
                <a16:creationId xmlns:a16="http://schemas.microsoft.com/office/drawing/2014/main" id="{EEBF4771-2C04-1082-F338-9662AE0F9E71}"/>
              </a:ext>
            </a:extLst>
          </p:cNvPr>
          <p:cNvCxnSpPr>
            <a:stCxn id="57" idx="2"/>
            <a:endCxn id="62" idx="0"/>
          </p:cNvCxnSpPr>
          <p:nvPr/>
        </p:nvCxnSpPr>
        <p:spPr>
          <a:xfrm flipH="1">
            <a:off x="871119" y="3429000"/>
            <a:ext cx="1108064" cy="536737"/>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4F16735B-AE2B-ED33-76A3-2BC92E822D12}"/>
              </a:ext>
            </a:extLst>
          </p:cNvPr>
          <p:cNvCxnSpPr>
            <a:cxnSpLocks/>
            <a:stCxn id="57" idx="2"/>
          </p:cNvCxnSpPr>
          <p:nvPr/>
        </p:nvCxnSpPr>
        <p:spPr>
          <a:xfrm>
            <a:off x="1979183" y="3429000"/>
            <a:ext cx="1297417" cy="535693"/>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9151DC93-C943-A936-8AFE-E70C4BE8833F}"/>
              </a:ext>
            </a:extLst>
          </p:cNvPr>
          <p:cNvSpPr txBox="1"/>
          <p:nvPr/>
        </p:nvSpPr>
        <p:spPr>
          <a:xfrm>
            <a:off x="4011539" y="3964693"/>
            <a:ext cx="1937518" cy="461665"/>
          </a:xfrm>
          <a:prstGeom prst="rect">
            <a:avLst/>
          </a:prstGeom>
          <a:noFill/>
        </p:spPr>
        <p:txBody>
          <a:bodyPr wrap="none" rtlCol="0">
            <a:spAutoFit/>
          </a:bodyPr>
          <a:lstStyle/>
          <a:p>
            <a:r>
              <a:rPr lang="en-IN" sz="2400" b="1" dirty="0"/>
              <a:t>Similar Tables</a:t>
            </a:r>
          </a:p>
        </p:txBody>
      </p:sp>
      <p:sp>
        <p:nvSpPr>
          <p:cNvPr id="76" name="Rectangle: Rounded Corners 75">
            <a:extLst>
              <a:ext uri="{FF2B5EF4-FFF2-40B4-BE49-F238E27FC236}">
                <a16:creationId xmlns:a16="http://schemas.microsoft.com/office/drawing/2014/main" id="{1553D295-EE2F-4DE1-31F1-377C81B5E77E}"/>
              </a:ext>
            </a:extLst>
          </p:cNvPr>
          <p:cNvSpPr/>
          <p:nvPr/>
        </p:nvSpPr>
        <p:spPr>
          <a:xfrm>
            <a:off x="871119" y="5431971"/>
            <a:ext cx="2216127" cy="73152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b="1" dirty="0"/>
              <a:t>Column Description Embeddings</a:t>
            </a:r>
          </a:p>
        </p:txBody>
      </p:sp>
      <p:cxnSp>
        <p:nvCxnSpPr>
          <p:cNvPr id="78" name="Straight Arrow Connector 77">
            <a:extLst>
              <a:ext uri="{FF2B5EF4-FFF2-40B4-BE49-F238E27FC236}">
                <a16:creationId xmlns:a16="http://schemas.microsoft.com/office/drawing/2014/main" id="{BEC9845C-D807-F79E-F985-C7052568159A}"/>
              </a:ext>
            </a:extLst>
          </p:cNvPr>
          <p:cNvCxnSpPr>
            <a:endCxn id="76" idx="0"/>
          </p:cNvCxnSpPr>
          <p:nvPr/>
        </p:nvCxnSpPr>
        <p:spPr>
          <a:xfrm>
            <a:off x="871119" y="4696213"/>
            <a:ext cx="1108064" cy="735758"/>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06EBB655-8795-6937-1860-877F9376D164}"/>
              </a:ext>
            </a:extLst>
          </p:cNvPr>
          <p:cNvCxnSpPr>
            <a:cxnSpLocks/>
            <a:stCxn id="67" idx="2"/>
          </p:cNvCxnSpPr>
          <p:nvPr/>
        </p:nvCxnSpPr>
        <p:spPr>
          <a:xfrm flipH="1">
            <a:off x="1956160" y="4687292"/>
            <a:ext cx="1298479" cy="733639"/>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84" name="Arrow: Right 83">
            <a:extLst>
              <a:ext uri="{FF2B5EF4-FFF2-40B4-BE49-F238E27FC236}">
                <a16:creationId xmlns:a16="http://schemas.microsoft.com/office/drawing/2014/main" id="{F6866753-F5CD-4076-4F09-1AA96945F95C}"/>
              </a:ext>
            </a:extLst>
          </p:cNvPr>
          <p:cNvSpPr/>
          <p:nvPr/>
        </p:nvSpPr>
        <p:spPr>
          <a:xfrm>
            <a:off x="3293758" y="5667102"/>
            <a:ext cx="2919184" cy="2612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lgorithm, map, scheme, site, site map icon - Free download">
            <a:extLst>
              <a:ext uri="{FF2B5EF4-FFF2-40B4-BE49-F238E27FC236}">
                <a16:creationId xmlns:a16="http://schemas.microsoft.com/office/drawing/2014/main" id="{F4238435-318B-9A95-0F51-FC01400109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3550" y="4624807"/>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85" name="TextBox 84">
            <a:extLst>
              <a:ext uri="{FF2B5EF4-FFF2-40B4-BE49-F238E27FC236}">
                <a16:creationId xmlns:a16="http://schemas.microsoft.com/office/drawing/2014/main" id="{79BAC4DE-917A-7129-CA12-54F525721AF2}"/>
              </a:ext>
            </a:extLst>
          </p:cNvPr>
          <p:cNvSpPr txBox="1"/>
          <p:nvPr/>
        </p:nvSpPr>
        <p:spPr>
          <a:xfrm>
            <a:off x="8284472" y="5173149"/>
            <a:ext cx="3036409" cy="523220"/>
          </a:xfrm>
          <a:prstGeom prst="rect">
            <a:avLst/>
          </a:prstGeom>
          <a:noFill/>
        </p:spPr>
        <p:txBody>
          <a:bodyPr wrap="none" rtlCol="0">
            <a:spAutoFit/>
          </a:bodyPr>
          <a:lstStyle/>
          <a:p>
            <a:r>
              <a:rPr lang="en-IN" sz="2800" b="1" dirty="0">
                <a:solidFill>
                  <a:srgbClr val="C00000"/>
                </a:solidFill>
              </a:rPr>
              <a:t>SCHEMA MAPPING</a:t>
            </a:r>
          </a:p>
        </p:txBody>
      </p:sp>
      <p:sp>
        <p:nvSpPr>
          <p:cNvPr id="86" name="Rectangle: Rounded Corners 85">
            <a:extLst>
              <a:ext uri="{FF2B5EF4-FFF2-40B4-BE49-F238E27FC236}">
                <a16:creationId xmlns:a16="http://schemas.microsoft.com/office/drawing/2014/main" id="{D7B709B1-0C79-C07F-158E-B845EB8FFF7A}"/>
              </a:ext>
            </a:extLst>
          </p:cNvPr>
          <p:cNvSpPr/>
          <p:nvPr/>
        </p:nvSpPr>
        <p:spPr>
          <a:xfrm>
            <a:off x="6876661" y="696303"/>
            <a:ext cx="4554213" cy="2340811"/>
          </a:xfrm>
          <a:prstGeom prst="roundRect">
            <a:avLst/>
          </a:prstGeom>
          <a:noFill/>
          <a:ln w="762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90" name="TextBox 89">
            <a:extLst>
              <a:ext uri="{FF2B5EF4-FFF2-40B4-BE49-F238E27FC236}">
                <a16:creationId xmlns:a16="http://schemas.microsoft.com/office/drawing/2014/main" id="{03FEBDE1-00C2-F03E-CF59-0650017F4696}"/>
              </a:ext>
            </a:extLst>
          </p:cNvPr>
          <p:cNvSpPr txBox="1"/>
          <p:nvPr/>
        </p:nvSpPr>
        <p:spPr>
          <a:xfrm>
            <a:off x="273570" y="4828234"/>
            <a:ext cx="1542615" cy="646331"/>
          </a:xfrm>
          <a:prstGeom prst="rect">
            <a:avLst/>
          </a:prstGeom>
          <a:noFill/>
        </p:spPr>
        <p:txBody>
          <a:bodyPr wrap="square">
            <a:spAutoFit/>
          </a:bodyPr>
          <a:lstStyle/>
          <a:p>
            <a:r>
              <a:rPr lang="en-IN" b="1" dirty="0"/>
              <a:t>DD03L + DD04T</a:t>
            </a:r>
          </a:p>
        </p:txBody>
      </p:sp>
      <p:sp>
        <p:nvSpPr>
          <p:cNvPr id="93" name="TextBox 92">
            <a:extLst>
              <a:ext uri="{FF2B5EF4-FFF2-40B4-BE49-F238E27FC236}">
                <a16:creationId xmlns:a16="http://schemas.microsoft.com/office/drawing/2014/main" id="{97E92A94-9E04-3678-8AE2-5A5C9450CB66}"/>
              </a:ext>
            </a:extLst>
          </p:cNvPr>
          <p:cNvSpPr txBox="1"/>
          <p:nvPr/>
        </p:nvSpPr>
        <p:spPr>
          <a:xfrm>
            <a:off x="2836747" y="4937376"/>
            <a:ext cx="2634343" cy="369332"/>
          </a:xfrm>
          <a:prstGeom prst="rect">
            <a:avLst/>
          </a:prstGeom>
          <a:noFill/>
        </p:spPr>
        <p:txBody>
          <a:bodyPr wrap="square">
            <a:spAutoFit/>
          </a:bodyPr>
          <a:lstStyle/>
          <a:p>
            <a:r>
              <a:rPr lang="en-IN" b="1" dirty="0"/>
              <a:t>APPLSYS_FND_COLUMNS</a:t>
            </a:r>
          </a:p>
        </p:txBody>
      </p:sp>
    </p:spTree>
    <p:extLst>
      <p:ext uri="{BB962C8B-B14F-4D97-AF65-F5344CB8AC3E}">
        <p14:creationId xmlns:p14="http://schemas.microsoft.com/office/powerpoint/2010/main" val="3930438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6AA2678-D2AD-6101-2A00-2289475AE8C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Subtitle 14">
            <a:extLst>
              <a:ext uri="{FF2B5EF4-FFF2-40B4-BE49-F238E27FC236}">
                <a16:creationId xmlns:a16="http://schemas.microsoft.com/office/drawing/2014/main" id="{F1A74353-405D-0B5C-1F06-08B99C0A3480}"/>
              </a:ext>
            </a:extLst>
          </p:cNvPr>
          <p:cNvSpPr txBox="1">
            <a:spLocks/>
          </p:cNvSpPr>
          <p:nvPr/>
        </p:nvSpPr>
        <p:spPr>
          <a:xfrm>
            <a:off x="391568" y="402753"/>
            <a:ext cx="8055746" cy="69088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400" b="1" dirty="0">
                <a:solidFill>
                  <a:schemeClr val="accent1"/>
                </a:solidFill>
              </a:rPr>
              <a:t>SCHEMA MAPPING II : </a:t>
            </a:r>
            <a:r>
              <a:rPr lang="en-US" sz="4400" b="1" dirty="0"/>
              <a:t>RAG</a:t>
            </a:r>
            <a:endParaRPr lang="en-US" sz="4400" b="1" dirty="0">
              <a:solidFill>
                <a:schemeClr val="accent1"/>
              </a:solidFill>
            </a:endParaRPr>
          </a:p>
        </p:txBody>
      </p:sp>
      <p:sp>
        <p:nvSpPr>
          <p:cNvPr id="14" name="Oval 13">
            <a:extLst>
              <a:ext uri="{FF2B5EF4-FFF2-40B4-BE49-F238E27FC236}">
                <a16:creationId xmlns:a16="http://schemas.microsoft.com/office/drawing/2014/main" id="{15DF1C51-400F-A493-018F-549936C767F5}"/>
              </a:ext>
            </a:extLst>
          </p:cNvPr>
          <p:cNvSpPr/>
          <p:nvPr/>
        </p:nvSpPr>
        <p:spPr>
          <a:xfrm>
            <a:off x="914400" y="1676400"/>
            <a:ext cx="1905000" cy="1502229"/>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IN" sz="2400" b="1" dirty="0">
                <a:solidFill>
                  <a:schemeClr val="tx1"/>
                </a:solidFill>
              </a:rPr>
              <a:t>USER QUERY</a:t>
            </a:r>
          </a:p>
        </p:txBody>
      </p:sp>
      <p:sp>
        <p:nvSpPr>
          <p:cNvPr id="15" name="Rectangle: Rounded Corners 14">
            <a:extLst>
              <a:ext uri="{FF2B5EF4-FFF2-40B4-BE49-F238E27FC236}">
                <a16:creationId xmlns:a16="http://schemas.microsoft.com/office/drawing/2014/main" id="{464974EF-6B00-225B-1295-7709813E55F4}"/>
              </a:ext>
            </a:extLst>
          </p:cNvPr>
          <p:cNvSpPr/>
          <p:nvPr/>
        </p:nvSpPr>
        <p:spPr>
          <a:xfrm>
            <a:off x="4506686" y="2024743"/>
            <a:ext cx="2275114" cy="783771"/>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2400" b="1" dirty="0">
                <a:solidFill>
                  <a:schemeClr val="tx1"/>
                </a:solidFill>
              </a:rPr>
              <a:t>EMBEDDING</a:t>
            </a:r>
          </a:p>
        </p:txBody>
      </p:sp>
      <p:sp>
        <p:nvSpPr>
          <p:cNvPr id="16" name="Cube 15">
            <a:extLst>
              <a:ext uri="{FF2B5EF4-FFF2-40B4-BE49-F238E27FC236}">
                <a16:creationId xmlns:a16="http://schemas.microsoft.com/office/drawing/2014/main" id="{BD05C1A3-5D53-8FDA-138A-DE7130EA208A}"/>
              </a:ext>
            </a:extLst>
          </p:cNvPr>
          <p:cNvSpPr/>
          <p:nvPr/>
        </p:nvSpPr>
        <p:spPr>
          <a:xfrm>
            <a:off x="8447314" y="1676400"/>
            <a:ext cx="2351315" cy="1349829"/>
          </a:xfrm>
          <a:prstGeom prst="cub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2000" b="1" dirty="0">
                <a:ln w="10160">
                  <a:solidFill>
                    <a:schemeClr val="accent5"/>
                  </a:solidFill>
                  <a:prstDash val="solid"/>
                </a:ln>
                <a:solidFill>
                  <a:sysClr val="windowText" lastClr="000000"/>
                </a:solidFill>
                <a:effectLst>
                  <a:outerShdw blurRad="38100" dist="22860" dir="5400000" algn="tl" rotWithShape="0">
                    <a:srgbClr val="000000">
                      <a:alpha val="30000"/>
                    </a:srgbClr>
                  </a:outerShdw>
                </a:effectLst>
              </a:rPr>
              <a:t>VECTOR</a:t>
            </a:r>
            <a:r>
              <a:rPr lang="en-IN" sz="2000" b="1" dirty="0">
                <a:ln w="22225">
                  <a:solidFill>
                    <a:schemeClr val="accent2"/>
                  </a:solidFill>
                  <a:prstDash val="solid"/>
                </a:ln>
                <a:solidFill>
                  <a:schemeClr val="tx1"/>
                </a:solidFill>
              </a:rPr>
              <a:t> </a:t>
            </a:r>
            <a:r>
              <a:rPr lang="en-IN" sz="2000" dirty="0">
                <a:ln w="0">
                  <a:solidFill>
                    <a:sysClr val="windowText" lastClr="000000"/>
                  </a:solidFill>
                </a:ln>
                <a:solidFill>
                  <a:sysClr val="windowText" lastClr="000000"/>
                </a:solidFill>
                <a:effectLst>
                  <a:outerShdw blurRad="38100" dist="19050" dir="2700000" algn="tl" rotWithShape="0">
                    <a:schemeClr val="dk1">
                      <a:alpha val="40000"/>
                    </a:schemeClr>
                  </a:outerShdw>
                </a:effectLst>
              </a:rPr>
              <a:t>DATABASE</a:t>
            </a:r>
            <a:endParaRPr lang="en-IN" sz="2000" b="1" dirty="0">
              <a:ln w="0">
                <a:solidFill>
                  <a:sysClr val="windowText" lastClr="000000"/>
                </a:solidFill>
              </a:ln>
              <a:solidFill>
                <a:sysClr val="windowText" lastClr="000000"/>
              </a:solidFill>
            </a:endParaRPr>
          </a:p>
        </p:txBody>
      </p:sp>
      <p:sp>
        <p:nvSpPr>
          <p:cNvPr id="18" name="Rectangle: Rounded Corners 17">
            <a:extLst>
              <a:ext uri="{FF2B5EF4-FFF2-40B4-BE49-F238E27FC236}">
                <a16:creationId xmlns:a16="http://schemas.microsoft.com/office/drawing/2014/main" id="{AD2C41CD-21B3-7B3B-0FEE-70F9986346B8}"/>
              </a:ext>
            </a:extLst>
          </p:cNvPr>
          <p:cNvSpPr/>
          <p:nvPr/>
        </p:nvSpPr>
        <p:spPr>
          <a:xfrm>
            <a:off x="4506686" y="3722332"/>
            <a:ext cx="2492828" cy="1076889"/>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IN" b="1" dirty="0"/>
              <a:t>RETREIVES RELEVANT CONTEXT</a:t>
            </a:r>
          </a:p>
        </p:txBody>
      </p:sp>
      <p:sp>
        <p:nvSpPr>
          <p:cNvPr id="20" name="Arrow: Right 19">
            <a:extLst>
              <a:ext uri="{FF2B5EF4-FFF2-40B4-BE49-F238E27FC236}">
                <a16:creationId xmlns:a16="http://schemas.microsoft.com/office/drawing/2014/main" id="{C48AF7C9-E685-9D89-C4AA-F7F97925FF1E}"/>
              </a:ext>
            </a:extLst>
          </p:cNvPr>
          <p:cNvSpPr/>
          <p:nvPr/>
        </p:nvSpPr>
        <p:spPr>
          <a:xfrm>
            <a:off x="3048000" y="2166257"/>
            <a:ext cx="1164771" cy="554037"/>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21" name="Arrow: Right 20">
            <a:extLst>
              <a:ext uri="{FF2B5EF4-FFF2-40B4-BE49-F238E27FC236}">
                <a16:creationId xmlns:a16="http://schemas.microsoft.com/office/drawing/2014/main" id="{6B27D10D-900F-2231-D9BD-5083C6847AD3}"/>
              </a:ext>
            </a:extLst>
          </p:cNvPr>
          <p:cNvSpPr/>
          <p:nvPr/>
        </p:nvSpPr>
        <p:spPr>
          <a:xfrm>
            <a:off x="7032171" y="2150495"/>
            <a:ext cx="1164771" cy="554037"/>
          </a:xfrm>
          <a:prstGeom prst="rightArrow">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cxnSp>
        <p:nvCxnSpPr>
          <p:cNvPr id="25" name="Connector: Elbow 24">
            <a:extLst>
              <a:ext uri="{FF2B5EF4-FFF2-40B4-BE49-F238E27FC236}">
                <a16:creationId xmlns:a16="http://schemas.microsoft.com/office/drawing/2014/main" id="{8CB7C838-5941-C59D-22FB-BE425C033009}"/>
              </a:ext>
            </a:extLst>
          </p:cNvPr>
          <p:cNvCxnSpPr>
            <a:cxnSpLocks/>
            <a:stCxn id="16" idx="3"/>
          </p:cNvCxnSpPr>
          <p:nvPr/>
        </p:nvCxnSpPr>
        <p:spPr>
          <a:xfrm rot="5400000">
            <a:off x="7581957" y="2443787"/>
            <a:ext cx="1289845" cy="2454728"/>
          </a:xfrm>
          <a:prstGeom prst="bentConnector2">
            <a:avLst/>
          </a:prstGeom>
          <a:ln w="76200">
            <a:tailEnd type="triangle"/>
          </a:ln>
        </p:spPr>
        <p:style>
          <a:lnRef idx="3">
            <a:schemeClr val="accent1"/>
          </a:lnRef>
          <a:fillRef idx="0">
            <a:schemeClr val="accent1"/>
          </a:fillRef>
          <a:effectRef idx="2">
            <a:schemeClr val="accent1"/>
          </a:effectRef>
          <a:fontRef idx="minor">
            <a:schemeClr val="tx1"/>
          </a:fontRef>
        </p:style>
      </p:cxnSp>
      <p:cxnSp>
        <p:nvCxnSpPr>
          <p:cNvPr id="29" name="Straight Arrow Connector 28">
            <a:extLst>
              <a:ext uri="{FF2B5EF4-FFF2-40B4-BE49-F238E27FC236}">
                <a16:creationId xmlns:a16="http://schemas.microsoft.com/office/drawing/2014/main" id="{F15D1765-4D4F-5C9A-A300-B65B850DB643}"/>
              </a:ext>
            </a:extLst>
          </p:cNvPr>
          <p:cNvCxnSpPr>
            <a:cxnSpLocks/>
            <a:stCxn id="14" idx="4"/>
          </p:cNvCxnSpPr>
          <p:nvPr/>
        </p:nvCxnSpPr>
        <p:spPr>
          <a:xfrm>
            <a:off x="1866900" y="3178629"/>
            <a:ext cx="0" cy="1192738"/>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04D64F1E-0B00-D616-9AE6-2C8AD96D3BD1}"/>
              </a:ext>
            </a:extLst>
          </p:cNvPr>
          <p:cNvCxnSpPr>
            <a:cxnSpLocks/>
          </p:cNvCxnSpPr>
          <p:nvPr/>
        </p:nvCxnSpPr>
        <p:spPr>
          <a:xfrm flipH="1">
            <a:off x="1866900" y="4371367"/>
            <a:ext cx="2639786"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52" name="Plus Sign 51">
            <a:extLst>
              <a:ext uri="{FF2B5EF4-FFF2-40B4-BE49-F238E27FC236}">
                <a16:creationId xmlns:a16="http://schemas.microsoft.com/office/drawing/2014/main" id="{B91DEF5F-C6BE-6BBC-496E-B18519AC4F87}"/>
              </a:ext>
            </a:extLst>
          </p:cNvPr>
          <p:cNvSpPr/>
          <p:nvPr/>
        </p:nvSpPr>
        <p:spPr>
          <a:xfrm>
            <a:off x="1605643" y="4477692"/>
            <a:ext cx="522514" cy="554032"/>
          </a:xfrm>
          <a:prstGeom prst="mathPlus">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DF4B2AC5-E692-83CF-E230-655D8BD33AE8}"/>
              </a:ext>
            </a:extLst>
          </p:cNvPr>
          <p:cNvSpPr/>
          <p:nvPr/>
        </p:nvSpPr>
        <p:spPr>
          <a:xfrm>
            <a:off x="1524002" y="4450869"/>
            <a:ext cx="647696" cy="580853"/>
          </a:xfrm>
          <a:prstGeom prst="ellipse">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54" name="Rectangle: Rounded Corners 53">
            <a:extLst>
              <a:ext uri="{FF2B5EF4-FFF2-40B4-BE49-F238E27FC236}">
                <a16:creationId xmlns:a16="http://schemas.microsoft.com/office/drawing/2014/main" id="{A4EF2392-86A0-F432-AEC6-919B0A4B2716}"/>
              </a:ext>
            </a:extLst>
          </p:cNvPr>
          <p:cNvSpPr/>
          <p:nvPr/>
        </p:nvSpPr>
        <p:spPr>
          <a:xfrm>
            <a:off x="4909457" y="4992610"/>
            <a:ext cx="1687286" cy="1076889"/>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2000" b="1" dirty="0">
                <a:solidFill>
                  <a:schemeClr val="tx1"/>
                </a:solidFill>
              </a:rPr>
              <a:t>PROMPT TO LLM</a:t>
            </a:r>
          </a:p>
        </p:txBody>
      </p:sp>
      <p:sp>
        <p:nvSpPr>
          <p:cNvPr id="55" name="Scroll: Vertical 54">
            <a:extLst>
              <a:ext uri="{FF2B5EF4-FFF2-40B4-BE49-F238E27FC236}">
                <a16:creationId xmlns:a16="http://schemas.microsoft.com/office/drawing/2014/main" id="{FD3A54A9-C2E1-2059-E3C2-25BF27FE6B58}"/>
              </a:ext>
            </a:extLst>
          </p:cNvPr>
          <p:cNvSpPr/>
          <p:nvPr/>
        </p:nvSpPr>
        <p:spPr>
          <a:xfrm>
            <a:off x="8806543" y="4741295"/>
            <a:ext cx="1779814" cy="1328204"/>
          </a:xfrm>
          <a:prstGeom prst="verticalScroll">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sz="2000" b="1" dirty="0">
                <a:solidFill>
                  <a:schemeClr val="tx1"/>
                </a:solidFill>
              </a:rPr>
              <a:t>RESPONSE</a:t>
            </a:r>
          </a:p>
        </p:txBody>
      </p:sp>
      <p:cxnSp>
        <p:nvCxnSpPr>
          <p:cNvPr id="57" name="Connector: Elbow 56">
            <a:extLst>
              <a:ext uri="{FF2B5EF4-FFF2-40B4-BE49-F238E27FC236}">
                <a16:creationId xmlns:a16="http://schemas.microsoft.com/office/drawing/2014/main" id="{15093CC7-12BB-55E3-F40C-09326A966DE2}"/>
              </a:ext>
            </a:extLst>
          </p:cNvPr>
          <p:cNvCxnSpPr>
            <a:stCxn id="53" idx="4"/>
            <a:endCxn id="54" idx="1"/>
          </p:cNvCxnSpPr>
          <p:nvPr/>
        </p:nvCxnSpPr>
        <p:spPr>
          <a:xfrm rot="16200000" flipH="1">
            <a:off x="3128987" y="3750584"/>
            <a:ext cx="499333" cy="3061607"/>
          </a:xfrm>
          <a:prstGeom prst="bentConnector2">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250726B6-F8DD-7A6C-8372-7BEBE0E83A13}"/>
              </a:ext>
            </a:extLst>
          </p:cNvPr>
          <p:cNvCxnSpPr>
            <a:stCxn id="54" idx="3"/>
          </p:cNvCxnSpPr>
          <p:nvPr/>
        </p:nvCxnSpPr>
        <p:spPr>
          <a:xfrm flipV="1">
            <a:off x="6596743" y="5531053"/>
            <a:ext cx="2296886" cy="2"/>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pic>
        <p:nvPicPr>
          <p:cNvPr id="2050" name="Picture 2" descr="Query icon PNG and SVG Vector Free Download">
            <a:extLst>
              <a:ext uri="{FF2B5EF4-FFF2-40B4-BE49-F238E27FC236}">
                <a16:creationId xmlns:a16="http://schemas.microsoft.com/office/drawing/2014/main" id="{ABE04401-E732-7067-B2F0-C2E5539F6B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811" y="1425355"/>
            <a:ext cx="782560" cy="69088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mbedding Icon - Free PNG &amp; SVG 3147570 - Noun Project">
            <a:extLst>
              <a:ext uri="{FF2B5EF4-FFF2-40B4-BE49-F238E27FC236}">
                <a16:creationId xmlns:a16="http://schemas.microsoft.com/office/drawing/2014/main" id="{E6B507C9-6C23-A8EA-E220-803E83EEDD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199" y="1318393"/>
            <a:ext cx="871184" cy="871184"/>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Digital Content Icon Royalty-Free Images, Stock Photos ...">
            <a:extLst>
              <a:ext uri="{FF2B5EF4-FFF2-40B4-BE49-F238E27FC236}">
                <a16:creationId xmlns:a16="http://schemas.microsoft.com/office/drawing/2014/main" id="{81DC0588-340F-0F6B-C62A-C1B42309CB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28706" y="3042979"/>
            <a:ext cx="1051454" cy="89434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Prompt Icon | Free SVG / PNG, Premium Animated GIF / APNG ...">
            <a:extLst>
              <a:ext uri="{FF2B5EF4-FFF2-40B4-BE49-F238E27FC236}">
                <a16:creationId xmlns:a16="http://schemas.microsoft.com/office/drawing/2014/main" id="{2010B864-7630-0E8E-0D7B-D34C5856913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53466" y="5734666"/>
            <a:ext cx="528334" cy="365685"/>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Message Icon. Email or News Illustrations - Vector, Sign and Symbol. black  line icon. 26720445 Vector Art at Vecteezy">
            <a:extLst>
              <a:ext uri="{FF2B5EF4-FFF2-40B4-BE49-F238E27FC236}">
                <a16:creationId xmlns:a16="http://schemas.microsoft.com/office/drawing/2014/main" id="{639D2557-2382-40F5-6D98-647924DC19A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50233" y="4260958"/>
            <a:ext cx="998765" cy="998765"/>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36,000+ Database Icon Stock Illustrations, Royalty-Free ...">
            <a:extLst>
              <a:ext uri="{FF2B5EF4-FFF2-40B4-BE49-F238E27FC236}">
                <a16:creationId xmlns:a16="http://schemas.microsoft.com/office/drawing/2014/main" id="{D58C1FDF-180E-0D59-2402-374C7C94646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96942" y="1284340"/>
            <a:ext cx="891967" cy="891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159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A9EE9319-47BB-7FCA-03CB-51F18A6D37FF}"/>
              </a:ext>
            </a:extLst>
          </p:cNvPr>
          <p:cNvSpPr>
            <a:spLocks noGrp="1"/>
          </p:cNvSpPr>
          <p:nvPr>
            <p:ph type="title"/>
          </p:nvPr>
        </p:nvSpPr>
        <p:spPr>
          <a:xfrm>
            <a:off x="838200" y="0"/>
            <a:ext cx="10515600" cy="1325880"/>
          </a:xfrm>
        </p:spPr>
        <p:txBody>
          <a:bodyPr vert="horz" lIns="91440" tIns="45720" rIns="91440" bIns="45720" rtlCol="0" anchor="ctr" anchorCtr="0">
            <a:normAutofit/>
          </a:bodyPr>
          <a:lstStyle/>
          <a:p>
            <a:r>
              <a:rPr lang="en-US" kern="1200" cap="all" spc="300" baseline="0" dirty="0">
                <a:latin typeface="+mj-lt"/>
                <a:ea typeface="+mj-ea"/>
                <a:cs typeface="+mj-cs"/>
              </a:rPr>
              <a:t>Query Evaluation and Mapping Process</a:t>
            </a:r>
          </a:p>
        </p:txBody>
      </p:sp>
      <p:pic>
        <p:nvPicPr>
          <p:cNvPr id="3078" name="Picture 6" descr="Push Pin Icon&quot; Images – Browse 390 ...">
            <a:extLst>
              <a:ext uri="{FF2B5EF4-FFF2-40B4-BE49-F238E27FC236}">
                <a16:creationId xmlns:a16="http://schemas.microsoft.com/office/drawing/2014/main" id="{411FB0F9-717D-E8A3-7D60-C0158F1BB6A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13731" y="161413"/>
            <a:ext cx="1248937" cy="1248937"/>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000340A-1BA4-7ADF-5A7B-7578CA26694E}"/>
              </a:ext>
            </a:extLst>
          </p:cNvPr>
          <p:cNvSpPr txBox="1"/>
          <p:nvPr/>
        </p:nvSpPr>
        <p:spPr>
          <a:xfrm>
            <a:off x="7505885" y="800256"/>
            <a:ext cx="4894006" cy="378573"/>
          </a:xfrm>
          <a:prstGeom prst="rect">
            <a:avLst/>
          </a:prstGeom>
        </p:spPr>
        <p:txBody>
          <a:bodyPr vert="horz" lIns="91440" tIns="45720" rIns="91440" bIns="45720" rtlCol="0">
            <a:normAutofit/>
          </a:bodyPr>
          <a:lstStyle/>
          <a:p>
            <a:pPr>
              <a:lnSpc>
                <a:spcPct val="90000"/>
              </a:lnSpc>
              <a:spcBef>
                <a:spcPts val="1000"/>
              </a:spcBef>
              <a:buClr>
                <a:schemeClr val="accent2"/>
              </a:buClr>
              <a:buFont typeface="Wingdings" panose="05000000000000000000" pitchFamily="2" charset="2"/>
            </a:pPr>
            <a:r>
              <a:rPr lang="en-US" b="1" u="sng" dirty="0">
                <a:solidFill>
                  <a:srgbClr val="C00000"/>
                </a:solidFill>
              </a:rPr>
              <a:t>BACKEND RUNNING &amp; ACTIVE</a:t>
            </a:r>
          </a:p>
        </p:txBody>
      </p:sp>
      <p:sp>
        <p:nvSpPr>
          <p:cNvPr id="8" name="Rectangle: Rounded Corners 7">
            <a:extLst>
              <a:ext uri="{FF2B5EF4-FFF2-40B4-BE49-F238E27FC236}">
                <a16:creationId xmlns:a16="http://schemas.microsoft.com/office/drawing/2014/main" id="{1FBF765C-1296-4EDC-CDFE-156154CC504B}"/>
              </a:ext>
            </a:extLst>
          </p:cNvPr>
          <p:cNvSpPr/>
          <p:nvPr/>
        </p:nvSpPr>
        <p:spPr>
          <a:xfrm>
            <a:off x="522514" y="1633851"/>
            <a:ext cx="10907485" cy="1248937"/>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dirty="0"/>
              <a:t>''Find if the table is relevant to the target database for the following description: "This table stores information about projects, including their planned start and finish dates, planning method, budget authorization key, and project definition. The table provides a comprehensive overview of project planning and execution, enabling effective monitoring and control of project progress.“</a:t>
            </a:r>
          </a:p>
          <a:p>
            <a:pPr algn="ctr"/>
            <a:r>
              <a:rPr lang="en-US" sz="1600" dirty="0"/>
              <a:t>If yes, then give the source and target column mappings.''</a:t>
            </a:r>
            <a:endParaRPr lang="en-IN" sz="1600" dirty="0"/>
          </a:p>
        </p:txBody>
      </p:sp>
      <p:sp>
        <p:nvSpPr>
          <p:cNvPr id="9" name="TextBox 8">
            <a:extLst>
              <a:ext uri="{FF2B5EF4-FFF2-40B4-BE49-F238E27FC236}">
                <a16:creationId xmlns:a16="http://schemas.microsoft.com/office/drawing/2014/main" id="{B08EF550-ABFE-C16A-627E-6D8B23214B2F}"/>
              </a:ext>
            </a:extLst>
          </p:cNvPr>
          <p:cNvSpPr txBox="1"/>
          <p:nvPr/>
        </p:nvSpPr>
        <p:spPr>
          <a:xfrm>
            <a:off x="4865915" y="1235034"/>
            <a:ext cx="1406667" cy="369332"/>
          </a:xfrm>
          <a:prstGeom prst="rect">
            <a:avLst/>
          </a:prstGeom>
          <a:noFill/>
        </p:spPr>
        <p:txBody>
          <a:bodyPr wrap="none" rtlCol="0">
            <a:spAutoFit/>
          </a:bodyPr>
          <a:lstStyle/>
          <a:p>
            <a:r>
              <a:rPr lang="en-IN" b="1" dirty="0"/>
              <a:t>USER QUERY</a:t>
            </a:r>
          </a:p>
        </p:txBody>
      </p:sp>
      <p:cxnSp>
        <p:nvCxnSpPr>
          <p:cNvPr id="19" name="Connector: Elbow 18">
            <a:extLst>
              <a:ext uri="{FF2B5EF4-FFF2-40B4-BE49-F238E27FC236}">
                <a16:creationId xmlns:a16="http://schemas.microsoft.com/office/drawing/2014/main" id="{D11199B7-91BB-48B7-DB85-B01C34FA6D43}"/>
              </a:ext>
            </a:extLst>
          </p:cNvPr>
          <p:cNvCxnSpPr>
            <a:cxnSpLocks/>
          </p:cNvCxnSpPr>
          <p:nvPr/>
        </p:nvCxnSpPr>
        <p:spPr>
          <a:xfrm rot="5400000">
            <a:off x="2109340" y="3222734"/>
            <a:ext cx="1806565" cy="1126672"/>
          </a:xfrm>
          <a:prstGeom prst="bentConnector3">
            <a:avLst>
              <a:gd name="adj1" fmla="val 50000"/>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EDDAAF0C-EDB0-DC3E-58C6-A4835CE6DD50}"/>
              </a:ext>
            </a:extLst>
          </p:cNvPr>
          <p:cNvSpPr txBox="1"/>
          <p:nvPr/>
        </p:nvSpPr>
        <p:spPr>
          <a:xfrm>
            <a:off x="1972381" y="3216915"/>
            <a:ext cx="1628716" cy="369332"/>
          </a:xfrm>
          <a:prstGeom prst="rect">
            <a:avLst/>
          </a:prstGeom>
          <a:noFill/>
        </p:spPr>
        <p:txBody>
          <a:bodyPr wrap="none" rtlCol="0">
            <a:spAutoFit/>
          </a:bodyPr>
          <a:lstStyle/>
          <a:p>
            <a:r>
              <a:rPr lang="en-IN" b="1" dirty="0"/>
              <a:t>Relevant Table </a:t>
            </a:r>
          </a:p>
        </p:txBody>
      </p:sp>
      <p:cxnSp>
        <p:nvCxnSpPr>
          <p:cNvPr id="23" name="Connector: Elbow 22">
            <a:extLst>
              <a:ext uri="{FF2B5EF4-FFF2-40B4-BE49-F238E27FC236}">
                <a16:creationId xmlns:a16="http://schemas.microsoft.com/office/drawing/2014/main" id="{E5CAD46F-1DF2-AA96-FB40-98275955B44D}"/>
              </a:ext>
            </a:extLst>
          </p:cNvPr>
          <p:cNvCxnSpPr>
            <a:cxnSpLocks/>
          </p:cNvCxnSpPr>
          <p:nvPr/>
        </p:nvCxnSpPr>
        <p:spPr>
          <a:xfrm rot="16200000" flipH="1">
            <a:off x="7850446" y="3134540"/>
            <a:ext cx="1806567" cy="1303062"/>
          </a:xfrm>
          <a:prstGeom prst="bentConnector3">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4C691A5D-8AC7-BE1A-C7AE-84BB0793783A}"/>
              </a:ext>
            </a:extLst>
          </p:cNvPr>
          <p:cNvSpPr txBox="1"/>
          <p:nvPr/>
        </p:nvSpPr>
        <p:spPr>
          <a:xfrm>
            <a:off x="8100584" y="3192004"/>
            <a:ext cx="2045496" cy="369332"/>
          </a:xfrm>
          <a:prstGeom prst="rect">
            <a:avLst/>
          </a:prstGeom>
          <a:noFill/>
        </p:spPr>
        <p:txBody>
          <a:bodyPr wrap="none" rtlCol="0">
            <a:spAutoFit/>
          </a:bodyPr>
          <a:lstStyle/>
          <a:p>
            <a:r>
              <a:rPr lang="en-IN" b="1" dirty="0"/>
              <a:t>Non-Relevant Table</a:t>
            </a:r>
          </a:p>
        </p:txBody>
      </p:sp>
      <p:sp>
        <p:nvSpPr>
          <p:cNvPr id="26" name="Scroll: Vertical 25">
            <a:extLst>
              <a:ext uri="{FF2B5EF4-FFF2-40B4-BE49-F238E27FC236}">
                <a16:creationId xmlns:a16="http://schemas.microsoft.com/office/drawing/2014/main" id="{CBB9ED10-A054-5B50-86C5-D0085759CBB5}"/>
              </a:ext>
            </a:extLst>
          </p:cNvPr>
          <p:cNvSpPr/>
          <p:nvPr/>
        </p:nvSpPr>
        <p:spPr>
          <a:xfrm>
            <a:off x="213731" y="4773823"/>
            <a:ext cx="5029201" cy="1807029"/>
          </a:xfrm>
          <a:prstGeom prst="verticalScroll">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sz="1600" b="1" dirty="0">
                <a:solidFill>
                  <a:schemeClr val="tx1"/>
                </a:solidFill>
              </a:rPr>
              <a:t>Yes, the table is relevant </a:t>
            </a:r>
            <a:r>
              <a:rPr lang="en-US" sz="1200" dirty="0">
                <a:solidFill>
                  <a:schemeClr val="tx1"/>
                </a:solidFill>
              </a:rPr>
              <a:t>to the target database as it relates to project information. Source column mappings could include: "project ID" from the context table mapping to "project definition" in the target table, and "first effective date" mapping to "planned start date." However, specific mappings may vary based on detailed schema definitions</a:t>
            </a:r>
            <a:r>
              <a:rPr lang="en-US" sz="1400" dirty="0">
                <a:solidFill>
                  <a:schemeClr val="tx1"/>
                </a:solidFill>
              </a:rPr>
              <a:t>.</a:t>
            </a:r>
            <a:endParaRPr lang="en-IN" sz="1400" dirty="0">
              <a:solidFill>
                <a:schemeClr val="tx1"/>
              </a:solidFill>
            </a:endParaRPr>
          </a:p>
        </p:txBody>
      </p:sp>
      <p:sp>
        <p:nvSpPr>
          <p:cNvPr id="27" name="Scroll: Vertical 26">
            <a:extLst>
              <a:ext uri="{FF2B5EF4-FFF2-40B4-BE49-F238E27FC236}">
                <a16:creationId xmlns:a16="http://schemas.microsoft.com/office/drawing/2014/main" id="{55065023-B245-D7FD-7C2E-E44BCEC17A61}"/>
              </a:ext>
            </a:extLst>
          </p:cNvPr>
          <p:cNvSpPr/>
          <p:nvPr/>
        </p:nvSpPr>
        <p:spPr>
          <a:xfrm>
            <a:off x="6716485" y="4773823"/>
            <a:ext cx="5029201" cy="1807029"/>
          </a:xfrm>
          <a:prstGeom prst="verticalScroll">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sz="1600" b="1" dirty="0">
                <a:solidFill>
                  <a:schemeClr val="tx1"/>
                </a:solidFill>
              </a:rPr>
              <a:t>The table is not relevant </a:t>
            </a:r>
            <a:r>
              <a:rPr lang="en-US" sz="1200" dirty="0">
                <a:solidFill>
                  <a:schemeClr val="tx1"/>
                </a:solidFill>
              </a:rPr>
              <a:t>to the target database as it focuses on accounting documents rather than project planning and execution. Therefore, there are no source and target column mappings to provide</a:t>
            </a:r>
            <a:endParaRPr lang="en-IN" sz="1200" dirty="0">
              <a:solidFill>
                <a:schemeClr val="tx1"/>
              </a:solidFill>
            </a:endParaRPr>
          </a:p>
        </p:txBody>
      </p:sp>
    </p:spTree>
    <p:extLst>
      <p:ext uri="{BB962C8B-B14F-4D97-AF65-F5344CB8AC3E}">
        <p14:creationId xmlns:p14="http://schemas.microsoft.com/office/powerpoint/2010/main" val="3620385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fltVal val="0"/>
                                          </p:val>
                                        </p:tav>
                                        <p:tav tm="100000">
                                          <p:val>
                                            <p:strVal val="#ppt_w"/>
                                          </p:val>
                                        </p:tav>
                                      </p:tavLst>
                                    </p:anim>
                                    <p:anim calcmode="lin" valueType="num">
                                      <p:cBhvr>
                                        <p:cTn id="20" dur="500" fill="hold"/>
                                        <p:tgtEl>
                                          <p:spTgt spid="21"/>
                                        </p:tgtEl>
                                        <p:attrNameLst>
                                          <p:attrName>ppt_h</p:attrName>
                                        </p:attrNameLst>
                                      </p:cBhvr>
                                      <p:tavLst>
                                        <p:tav tm="0">
                                          <p:val>
                                            <p:fltVal val="0"/>
                                          </p:val>
                                        </p:tav>
                                        <p:tav tm="100000">
                                          <p:val>
                                            <p:strVal val="#ppt_h"/>
                                          </p:val>
                                        </p:tav>
                                      </p:tavLst>
                                    </p:anim>
                                    <p:animEffect transition="in" filter="fade">
                                      <p:cBhvr>
                                        <p:cTn id="21" dur="500"/>
                                        <p:tgtEl>
                                          <p:spTgt spid="21"/>
                                        </p:tgtEl>
                                      </p:cBhvr>
                                    </p:animEffect>
                                  </p:childTnLst>
                                </p:cTn>
                              </p:par>
                              <p:par>
                                <p:cTn id="22" presetID="53" presetClass="entr" presetSubtype="16" fill="hold" nodeType="withEffect">
                                  <p:stCondLst>
                                    <p:cond delay="0"/>
                                  </p:stCondLst>
                                  <p:childTnLst>
                                    <p:set>
                                      <p:cBhvr>
                                        <p:cTn id="23" dur="1" fill="hold">
                                          <p:stCondLst>
                                            <p:cond delay="0"/>
                                          </p:stCondLst>
                                        </p:cTn>
                                        <p:tgtEl>
                                          <p:spTgt spid="19"/>
                                        </p:tgtEl>
                                        <p:attrNameLst>
                                          <p:attrName>style.visibility</p:attrName>
                                        </p:attrNameLst>
                                      </p:cBhvr>
                                      <p:to>
                                        <p:strVal val="visible"/>
                                      </p:to>
                                    </p:set>
                                    <p:anim calcmode="lin" valueType="num">
                                      <p:cBhvr>
                                        <p:cTn id="24" dur="500" fill="hold"/>
                                        <p:tgtEl>
                                          <p:spTgt spid="19"/>
                                        </p:tgtEl>
                                        <p:attrNameLst>
                                          <p:attrName>ppt_w</p:attrName>
                                        </p:attrNameLst>
                                      </p:cBhvr>
                                      <p:tavLst>
                                        <p:tav tm="0">
                                          <p:val>
                                            <p:fltVal val="0"/>
                                          </p:val>
                                        </p:tav>
                                        <p:tav tm="100000">
                                          <p:val>
                                            <p:strVal val="#ppt_w"/>
                                          </p:val>
                                        </p:tav>
                                      </p:tavLst>
                                    </p:anim>
                                    <p:anim calcmode="lin" valueType="num">
                                      <p:cBhvr>
                                        <p:cTn id="25" dur="500" fill="hold"/>
                                        <p:tgtEl>
                                          <p:spTgt spid="19"/>
                                        </p:tgtEl>
                                        <p:attrNameLst>
                                          <p:attrName>ppt_h</p:attrName>
                                        </p:attrNameLst>
                                      </p:cBhvr>
                                      <p:tavLst>
                                        <p:tav tm="0">
                                          <p:val>
                                            <p:fltVal val="0"/>
                                          </p:val>
                                        </p:tav>
                                        <p:tav tm="100000">
                                          <p:val>
                                            <p:strVal val="#ppt_h"/>
                                          </p:val>
                                        </p:tav>
                                      </p:tavLst>
                                    </p:anim>
                                    <p:animEffect transition="in" filter="fade">
                                      <p:cBhvr>
                                        <p:cTn id="26" dur="500"/>
                                        <p:tgtEl>
                                          <p:spTgt spid="19"/>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p:cTn id="29" dur="500" fill="hold"/>
                                        <p:tgtEl>
                                          <p:spTgt spid="26"/>
                                        </p:tgtEl>
                                        <p:attrNameLst>
                                          <p:attrName>ppt_w</p:attrName>
                                        </p:attrNameLst>
                                      </p:cBhvr>
                                      <p:tavLst>
                                        <p:tav tm="0">
                                          <p:val>
                                            <p:fltVal val="0"/>
                                          </p:val>
                                        </p:tav>
                                        <p:tav tm="100000">
                                          <p:val>
                                            <p:strVal val="#ppt_w"/>
                                          </p:val>
                                        </p:tav>
                                      </p:tavLst>
                                    </p:anim>
                                    <p:anim calcmode="lin" valueType="num">
                                      <p:cBhvr>
                                        <p:cTn id="30" dur="500" fill="hold"/>
                                        <p:tgtEl>
                                          <p:spTgt spid="26"/>
                                        </p:tgtEl>
                                        <p:attrNameLst>
                                          <p:attrName>ppt_h</p:attrName>
                                        </p:attrNameLst>
                                      </p:cBhvr>
                                      <p:tavLst>
                                        <p:tav tm="0">
                                          <p:val>
                                            <p:fltVal val="0"/>
                                          </p:val>
                                        </p:tav>
                                        <p:tav tm="100000">
                                          <p:val>
                                            <p:strVal val="#ppt_h"/>
                                          </p:val>
                                        </p:tav>
                                      </p:tavLst>
                                    </p:anim>
                                    <p:animEffect transition="in" filter="fade">
                                      <p:cBhvr>
                                        <p:cTn id="31" dur="500"/>
                                        <p:tgtEl>
                                          <p:spTgt spid="26"/>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25"/>
                                        </p:tgtEl>
                                        <p:attrNameLst>
                                          <p:attrName>style.visibility</p:attrName>
                                        </p:attrNameLst>
                                      </p:cBhvr>
                                      <p:to>
                                        <p:strVal val="visible"/>
                                      </p:to>
                                    </p:set>
                                    <p:anim calcmode="lin" valueType="num">
                                      <p:cBhvr>
                                        <p:cTn id="36" dur="500" fill="hold"/>
                                        <p:tgtEl>
                                          <p:spTgt spid="25"/>
                                        </p:tgtEl>
                                        <p:attrNameLst>
                                          <p:attrName>ppt_w</p:attrName>
                                        </p:attrNameLst>
                                      </p:cBhvr>
                                      <p:tavLst>
                                        <p:tav tm="0">
                                          <p:val>
                                            <p:fltVal val="0"/>
                                          </p:val>
                                        </p:tav>
                                        <p:tav tm="100000">
                                          <p:val>
                                            <p:strVal val="#ppt_w"/>
                                          </p:val>
                                        </p:tav>
                                      </p:tavLst>
                                    </p:anim>
                                    <p:anim calcmode="lin" valueType="num">
                                      <p:cBhvr>
                                        <p:cTn id="37" dur="500" fill="hold"/>
                                        <p:tgtEl>
                                          <p:spTgt spid="25"/>
                                        </p:tgtEl>
                                        <p:attrNameLst>
                                          <p:attrName>ppt_h</p:attrName>
                                        </p:attrNameLst>
                                      </p:cBhvr>
                                      <p:tavLst>
                                        <p:tav tm="0">
                                          <p:val>
                                            <p:fltVal val="0"/>
                                          </p:val>
                                        </p:tav>
                                        <p:tav tm="100000">
                                          <p:val>
                                            <p:strVal val="#ppt_h"/>
                                          </p:val>
                                        </p:tav>
                                      </p:tavLst>
                                    </p:anim>
                                    <p:animEffect transition="in" filter="fade">
                                      <p:cBhvr>
                                        <p:cTn id="38" dur="500"/>
                                        <p:tgtEl>
                                          <p:spTgt spid="25"/>
                                        </p:tgtEl>
                                      </p:cBhvr>
                                    </p:animEffect>
                                  </p:childTnLst>
                                </p:cTn>
                              </p:par>
                              <p:par>
                                <p:cTn id="39" presetID="53" presetClass="entr" presetSubtype="16"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anim calcmode="lin" valueType="num">
                                      <p:cBhvr>
                                        <p:cTn id="41" dur="500" fill="hold"/>
                                        <p:tgtEl>
                                          <p:spTgt spid="23"/>
                                        </p:tgtEl>
                                        <p:attrNameLst>
                                          <p:attrName>ppt_w</p:attrName>
                                        </p:attrNameLst>
                                      </p:cBhvr>
                                      <p:tavLst>
                                        <p:tav tm="0">
                                          <p:val>
                                            <p:fltVal val="0"/>
                                          </p:val>
                                        </p:tav>
                                        <p:tav tm="100000">
                                          <p:val>
                                            <p:strVal val="#ppt_w"/>
                                          </p:val>
                                        </p:tav>
                                      </p:tavLst>
                                    </p:anim>
                                    <p:anim calcmode="lin" valueType="num">
                                      <p:cBhvr>
                                        <p:cTn id="42" dur="500" fill="hold"/>
                                        <p:tgtEl>
                                          <p:spTgt spid="23"/>
                                        </p:tgtEl>
                                        <p:attrNameLst>
                                          <p:attrName>ppt_h</p:attrName>
                                        </p:attrNameLst>
                                      </p:cBhvr>
                                      <p:tavLst>
                                        <p:tav tm="0">
                                          <p:val>
                                            <p:fltVal val="0"/>
                                          </p:val>
                                        </p:tav>
                                        <p:tav tm="100000">
                                          <p:val>
                                            <p:strVal val="#ppt_h"/>
                                          </p:val>
                                        </p:tav>
                                      </p:tavLst>
                                    </p:anim>
                                    <p:animEffect transition="in" filter="fade">
                                      <p:cBhvr>
                                        <p:cTn id="43" dur="500"/>
                                        <p:tgtEl>
                                          <p:spTgt spid="23"/>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 calcmode="lin" valueType="num">
                                      <p:cBhvr>
                                        <p:cTn id="46" dur="500" fill="hold"/>
                                        <p:tgtEl>
                                          <p:spTgt spid="27"/>
                                        </p:tgtEl>
                                        <p:attrNameLst>
                                          <p:attrName>ppt_w</p:attrName>
                                        </p:attrNameLst>
                                      </p:cBhvr>
                                      <p:tavLst>
                                        <p:tav tm="0">
                                          <p:val>
                                            <p:fltVal val="0"/>
                                          </p:val>
                                        </p:tav>
                                        <p:tav tm="100000">
                                          <p:val>
                                            <p:strVal val="#ppt_w"/>
                                          </p:val>
                                        </p:tav>
                                      </p:tavLst>
                                    </p:anim>
                                    <p:anim calcmode="lin" valueType="num">
                                      <p:cBhvr>
                                        <p:cTn id="47" dur="500" fill="hold"/>
                                        <p:tgtEl>
                                          <p:spTgt spid="27"/>
                                        </p:tgtEl>
                                        <p:attrNameLst>
                                          <p:attrName>ppt_h</p:attrName>
                                        </p:attrNameLst>
                                      </p:cBhvr>
                                      <p:tavLst>
                                        <p:tav tm="0">
                                          <p:val>
                                            <p:fltVal val="0"/>
                                          </p:val>
                                        </p:tav>
                                        <p:tav tm="100000">
                                          <p:val>
                                            <p:strVal val="#ppt_h"/>
                                          </p:val>
                                        </p:tav>
                                      </p:tavLst>
                                    </p:anim>
                                    <p:animEffect transition="in" filter="fade">
                                      <p:cBhvr>
                                        <p:cTn id="4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21" grpId="0"/>
      <p:bldP spid="25" grpId="0"/>
      <p:bldP spid="26" grpId="0" animBg="1"/>
      <p:bldP spid="2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11">
            <a:extLst>
              <a:ext uri="{FF2B5EF4-FFF2-40B4-BE49-F238E27FC236}">
                <a16:creationId xmlns:a16="http://schemas.microsoft.com/office/drawing/2014/main" id="{A336FEA9-C85A-3569-16F0-5ECBABBE0BEC}"/>
              </a:ext>
            </a:extLst>
          </p:cNvPr>
          <p:cNvSpPr>
            <a:spLocks noGrp="1"/>
          </p:cNvSpPr>
          <p:nvPr>
            <p:ph type="subTitle" idx="1"/>
          </p:nvPr>
        </p:nvSpPr>
        <p:spPr>
          <a:xfrm>
            <a:off x="2133600" y="1404258"/>
            <a:ext cx="7903029" cy="4376056"/>
          </a:xfrm>
        </p:spPr>
        <p:txBody>
          <a:bodyPr/>
          <a:lstStyle/>
          <a:p>
            <a:r>
              <a:rPr lang="en-US" sz="1800" b="1" dirty="0"/>
              <a:t>Presenting you</a:t>
            </a:r>
          </a:p>
          <a:p>
            <a:r>
              <a:rPr lang="en-US" b="1" dirty="0"/>
              <a:t> </a:t>
            </a:r>
            <a:r>
              <a:rPr lang="en-US" b="1" dirty="0">
                <a:effectLst>
                  <a:outerShdw blurRad="38100" dist="38100" dir="2700000" algn="tl">
                    <a:srgbClr val="000000">
                      <a:alpha val="43137"/>
                    </a:srgbClr>
                  </a:outerShdw>
                </a:effectLst>
              </a:rPr>
              <a:t>MAP X</a:t>
            </a:r>
          </a:p>
        </p:txBody>
      </p:sp>
    </p:spTree>
    <p:extLst>
      <p:ext uri="{BB962C8B-B14F-4D97-AF65-F5344CB8AC3E}">
        <p14:creationId xmlns:p14="http://schemas.microsoft.com/office/powerpoint/2010/main" val="2493787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838200" y="365760"/>
            <a:ext cx="10515600" cy="1325563"/>
          </a:xfrm>
          <a:noFill/>
        </p:spPr>
        <p:txBody>
          <a:bodyPr anchor="ctr"/>
          <a:lstStyle/>
          <a:p>
            <a:r>
              <a:rPr lang="en-US" dirty="0"/>
              <a:t>Limitations &amp; Future Prospects</a:t>
            </a:r>
          </a:p>
        </p:txBody>
      </p:sp>
      <p:sp>
        <p:nvSpPr>
          <p:cNvPr id="3" name="Content Placeholder 2">
            <a:extLst>
              <a:ext uri="{FF2B5EF4-FFF2-40B4-BE49-F238E27FC236}">
                <a16:creationId xmlns:a16="http://schemas.microsoft.com/office/drawing/2014/main" id="{05948542-FCE1-3AE6-C6C9-17975609DF70}"/>
              </a:ext>
            </a:extLst>
          </p:cNvPr>
          <p:cNvSpPr>
            <a:spLocks noGrp="1"/>
          </p:cNvSpPr>
          <p:nvPr>
            <p:ph sz="quarter" idx="15"/>
          </p:nvPr>
        </p:nvSpPr>
        <p:spPr>
          <a:xfrm>
            <a:off x="838200" y="1790329"/>
            <a:ext cx="5134335" cy="4113054"/>
          </a:xfrm>
          <a:noFill/>
        </p:spPr>
        <p:txBody>
          <a:bodyPr vert="horz" lIns="91440" tIns="45720" rIns="91440" bIns="45720" rtlCol="0" anchor="t">
            <a:normAutofit lnSpcReduction="10000"/>
          </a:bodyPr>
          <a:lstStyle/>
          <a:p>
            <a:r>
              <a:rPr lang="en-US" dirty="0"/>
              <a:t>Consistent rehearsal</a:t>
            </a:r>
          </a:p>
          <a:p>
            <a:pPr lvl="1"/>
            <a:r>
              <a:rPr lang="en-US" dirty="0"/>
              <a:t>Strengthen your familiarity</a:t>
            </a:r>
          </a:p>
          <a:p>
            <a:r>
              <a:rPr lang="en-US" dirty="0"/>
              <a:t>Refine delivery style</a:t>
            </a:r>
          </a:p>
          <a:p>
            <a:pPr lvl="1"/>
            <a:r>
              <a:rPr lang="en-US" dirty="0"/>
              <a:t>Pacing, tone, and emphasis</a:t>
            </a:r>
          </a:p>
          <a:p>
            <a:r>
              <a:rPr lang="en-US" dirty="0"/>
              <a:t>Timing and transitions</a:t>
            </a:r>
          </a:p>
          <a:p>
            <a:pPr lvl="1"/>
            <a:r>
              <a:rPr lang="en-US" dirty="0"/>
              <a:t>Aim for seamless, professional delivery</a:t>
            </a:r>
          </a:p>
          <a:p>
            <a:r>
              <a:rPr lang="en-US" dirty="0"/>
              <a:t>Practice audience</a:t>
            </a:r>
          </a:p>
          <a:p>
            <a:pPr lvl="1"/>
            <a:r>
              <a:rPr lang="en-US" dirty="0"/>
              <a:t>Enlist colleagues to listen &amp; provide feedback</a:t>
            </a:r>
          </a:p>
          <a:p>
            <a:pPr lvl="1"/>
            <a:endParaRPr lang="en-US" dirty="0"/>
          </a:p>
        </p:txBody>
      </p:sp>
      <p:sp>
        <p:nvSpPr>
          <p:cNvPr id="4" name="Content Placeholder 3">
            <a:extLst>
              <a:ext uri="{FF2B5EF4-FFF2-40B4-BE49-F238E27FC236}">
                <a16:creationId xmlns:a16="http://schemas.microsoft.com/office/drawing/2014/main" id="{3EE67564-0457-E486-97D0-8109D2C97B3F}"/>
              </a:ext>
            </a:extLst>
          </p:cNvPr>
          <p:cNvSpPr>
            <a:spLocks noGrp="1"/>
          </p:cNvSpPr>
          <p:nvPr>
            <p:ph sz="quarter" idx="16"/>
          </p:nvPr>
        </p:nvSpPr>
        <p:spPr>
          <a:xfrm>
            <a:off x="6219464" y="1790329"/>
            <a:ext cx="5134335" cy="4113054"/>
          </a:xfrm>
          <a:noFill/>
        </p:spPr>
        <p:txBody>
          <a:bodyPr>
            <a:normAutofit/>
          </a:bodyPr>
          <a:lstStyle/>
          <a:p>
            <a:r>
              <a:rPr lang="en-US" dirty="0"/>
              <a:t>Seek feedback</a:t>
            </a:r>
          </a:p>
          <a:p>
            <a:r>
              <a:rPr lang="en-US" dirty="0"/>
              <a:t>Reflect on performance</a:t>
            </a:r>
          </a:p>
          <a:p>
            <a:r>
              <a:rPr lang="en-US" dirty="0"/>
              <a:t>Explore new techniques</a:t>
            </a:r>
          </a:p>
          <a:p>
            <a:r>
              <a:rPr lang="en-US" dirty="0"/>
              <a:t>Set personal goals</a:t>
            </a:r>
          </a:p>
          <a:p>
            <a:r>
              <a:rPr lang="en-US" dirty="0"/>
              <a:t>Iterate and adapt</a:t>
            </a:r>
          </a:p>
        </p:txBody>
      </p:sp>
      <p:sp>
        <p:nvSpPr>
          <p:cNvPr id="5" name="Rectangle 4">
            <a:extLst>
              <a:ext uri="{FF2B5EF4-FFF2-40B4-BE49-F238E27FC236}">
                <a16:creationId xmlns:a16="http://schemas.microsoft.com/office/drawing/2014/main" id="{3EE39F69-A1C6-AF25-B91E-7EEE8ED9E9D8}"/>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643777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11" descr="A close up of dots&#10;">
            <a:extLst>
              <a:ext uri="{FF2B5EF4-FFF2-40B4-BE49-F238E27FC236}">
                <a16:creationId xmlns:a16="http://schemas.microsoft.com/office/drawing/2014/main" id="{030E03B4-DAB0-F43D-4B1C-C54F75E621A1}"/>
              </a:ext>
            </a:extLst>
          </p:cNvPr>
          <p:cNvPicPr>
            <a:picLocks noGrp="1" noChangeAspect="1"/>
          </p:cNvPicPr>
          <p:nvPr>
            <p:ph type="pic" sz="quarter" idx="11"/>
          </p:nvPr>
        </p:nvPicPr>
        <p:blipFill>
          <a:blip r:embed="rId2"/>
          <a:srcRect/>
          <a:stretch/>
        </p:blipFill>
        <p:spPr>
          <a:xfrm>
            <a:off x="0" y="0"/>
            <a:ext cx="12192000" cy="6858000"/>
          </a:xfrm>
        </p:spPr>
      </p:pic>
      <p:sp>
        <p:nvSpPr>
          <p:cNvPr id="7" name="Title 6">
            <a:extLst>
              <a:ext uri="{FF2B5EF4-FFF2-40B4-BE49-F238E27FC236}">
                <a16:creationId xmlns:a16="http://schemas.microsoft.com/office/drawing/2014/main" id="{4AB1CD4B-2C7F-1593-8E69-B7450F3DCAD6}"/>
              </a:ext>
            </a:extLst>
          </p:cNvPr>
          <p:cNvSpPr>
            <a:spLocks noGrp="1"/>
          </p:cNvSpPr>
          <p:nvPr>
            <p:ph type="title"/>
          </p:nvPr>
        </p:nvSpPr>
        <p:spPr>
          <a:xfrm>
            <a:off x="783771" y="1032482"/>
            <a:ext cx="6672943" cy="3779004"/>
          </a:xfrm>
        </p:spPr>
        <p:txBody>
          <a:bodyPr/>
          <a:lstStyle/>
          <a:p>
            <a:r>
              <a:rPr lang="en-US" sz="6600" b="1" dirty="0">
                <a:latin typeface="Aharoni" panose="02010803020104030203" pitchFamily="2" charset="-79"/>
                <a:cs typeface="Aharoni" panose="02010803020104030203" pitchFamily="2" charset="-79"/>
              </a:rPr>
              <a:t>THANK YOU</a:t>
            </a:r>
            <a:br>
              <a:rPr lang="en-US" sz="6600" b="1" dirty="0">
                <a:latin typeface="Aharoni" panose="02010803020104030203" pitchFamily="2" charset="-79"/>
                <a:cs typeface="Aharoni" panose="02010803020104030203" pitchFamily="2" charset="-79"/>
              </a:rPr>
            </a:br>
            <a:br>
              <a:rPr lang="en-US" sz="6600" b="1" dirty="0">
                <a:latin typeface="Aharoni" panose="02010803020104030203" pitchFamily="2" charset="-79"/>
                <a:cs typeface="Aharoni" panose="02010803020104030203" pitchFamily="2" charset="-79"/>
              </a:rPr>
            </a:br>
            <a:r>
              <a:rPr lang="en-US" sz="1600" b="1" dirty="0"/>
              <a:t>We ensure better matches than dating apps—</a:t>
            </a:r>
            <a:r>
              <a:rPr lang="en-US" sz="1600" b="1" dirty="0">
                <a:solidFill>
                  <a:srgbClr val="FF0000"/>
                </a:solidFill>
              </a:rPr>
              <a:t>scan</a:t>
            </a:r>
            <a:r>
              <a:rPr lang="en-US" sz="1600" b="1" dirty="0"/>
              <a:t>, </a:t>
            </a:r>
            <a:r>
              <a:rPr lang="en-US" sz="1600" b="1" dirty="0">
                <a:solidFill>
                  <a:srgbClr val="FF0000"/>
                </a:solidFill>
              </a:rPr>
              <a:t>map</a:t>
            </a:r>
            <a:r>
              <a:rPr lang="en-US" sz="1600" b="1" dirty="0"/>
              <a:t> and start </a:t>
            </a:r>
            <a:r>
              <a:rPr lang="en-US" sz="1600" b="1" dirty="0">
                <a:solidFill>
                  <a:srgbClr val="FF0000"/>
                </a:solidFill>
              </a:rPr>
              <a:t>navigating</a:t>
            </a:r>
            <a:r>
              <a:rPr lang="en-US" sz="1600" b="1" dirty="0"/>
              <a:t>!</a:t>
            </a:r>
            <a:endParaRPr lang="en-US" sz="1600" b="1" dirty="0">
              <a:latin typeface="Aharoni" panose="02010803020104030203" pitchFamily="2" charset="-79"/>
              <a:cs typeface="Aharoni" panose="02010803020104030203" pitchFamily="2" charset="-79"/>
            </a:endParaRPr>
          </a:p>
        </p:txBody>
      </p:sp>
      <p:pic>
        <p:nvPicPr>
          <p:cNvPr id="6" name="Picture 5" descr="A qr code on a white background&#10;&#10;Description automatically generated">
            <a:extLst>
              <a:ext uri="{FF2B5EF4-FFF2-40B4-BE49-F238E27FC236}">
                <a16:creationId xmlns:a16="http://schemas.microsoft.com/office/drawing/2014/main" id="{22EF8C7D-10B9-050F-226A-FB220A3DEDA3}"/>
              </a:ext>
            </a:extLst>
          </p:cNvPr>
          <p:cNvPicPr>
            <a:picLocks noChangeAspect="1"/>
          </p:cNvPicPr>
          <p:nvPr/>
        </p:nvPicPr>
        <p:blipFill>
          <a:blip r:embed="rId3">
            <a:alphaModFix amt="90000"/>
            <a:extLst>
              <a:ext uri="{28A0092B-C50C-407E-A947-70E740481C1C}">
                <a14:useLocalDpi xmlns:a14="http://schemas.microsoft.com/office/drawing/2010/main" val="0"/>
              </a:ext>
            </a:extLst>
          </a:blip>
          <a:stretch>
            <a:fillRect/>
          </a:stretch>
        </p:blipFill>
        <p:spPr>
          <a:xfrm>
            <a:off x="8240485" y="2147028"/>
            <a:ext cx="2991030" cy="2991030"/>
          </a:xfrm>
          <a:prstGeom prst="rect">
            <a:avLst/>
          </a:prstGeom>
        </p:spPr>
      </p:pic>
    </p:spTree>
    <p:extLst>
      <p:ext uri="{BB962C8B-B14F-4D97-AF65-F5344CB8AC3E}">
        <p14:creationId xmlns:p14="http://schemas.microsoft.com/office/powerpoint/2010/main" val="2184472291"/>
      </p:ext>
    </p:extLst>
  </p:cSld>
  <p:clrMapOvr>
    <a:masterClrMapping/>
  </p:clrMapOvr>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3.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Tech presentation</Template>
  <TotalTime>342</TotalTime>
  <Words>377</Words>
  <Application>Microsoft Office PowerPoint</Application>
  <PresentationFormat>Widescreen</PresentationFormat>
  <Paragraphs>75</Paragraphs>
  <Slides>10</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Aharoni</vt:lpstr>
      <vt:lpstr>Aptos</vt:lpstr>
      <vt:lpstr>Arial</vt:lpstr>
      <vt:lpstr>Calibri</vt:lpstr>
      <vt:lpstr>Calibri Light</vt:lpstr>
      <vt:lpstr>Wingdings</vt:lpstr>
      <vt:lpstr>Custom</vt:lpstr>
      <vt:lpstr>MAP x</vt:lpstr>
      <vt:lpstr>Automate schema mapping across diverse databases to streamline data integration and reduce manual errors.</vt:lpstr>
      <vt:lpstr>AGENDA</vt:lpstr>
      <vt:lpstr>Databases</vt:lpstr>
      <vt:lpstr>PowerPoint Presentation</vt:lpstr>
      <vt:lpstr>PowerPoint Presentation</vt:lpstr>
      <vt:lpstr>Query Evaluation and Mapping Process</vt:lpstr>
      <vt:lpstr>PowerPoint Presentation</vt:lpstr>
      <vt:lpstr>Limitations &amp; Future Prospects</vt:lpstr>
      <vt:lpstr>THANK YOU  We ensure better matches than dating apps—scan, map and start navigating!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Priyanka Roy</dc:creator>
  <cp:lastModifiedBy>Priyanka Roy</cp:lastModifiedBy>
  <cp:revision>5</cp:revision>
  <dcterms:created xsi:type="dcterms:W3CDTF">2024-08-09T03:09:54Z</dcterms:created>
  <dcterms:modified xsi:type="dcterms:W3CDTF">2024-08-09T08:52:07Z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